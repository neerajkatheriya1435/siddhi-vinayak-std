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6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08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0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00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74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37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145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865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398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051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50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318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149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464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042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339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916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842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2A0D093-AA59-4573-B615-36FA2068E23F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0A90460-5359-429A-AB3D-E45AE2B2D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64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58F903-5F1C-4B88-9933-0ADF97925331}"/>
              </a:ext>
            </a:extLst>
          </p:cNvPr>
          <p:cNvSpPr txBox="1"/>
          <p:nvPr/>
        </p:nvSpPr>
        <p:spPr>
          <a:xfrm>
            <a:off x="1052052" y="334296"/>
            <a:ext cx="888836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Introduction to Tally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400" b="1" dirty="0"/>
              <a:t>Tally</a:t>
            </a:r>
            <a:r>
              <a:rPr lang="en-US" sz="2400" dirty="0"/>
              <a:t> is an accounting software used to record, manage, and analyze financial transactions of a business.</a:t>
            </a:r>
          </a:p>
          <a:p>
            <a:r>
              <a:rPr lang="en-US" sz="2400" dirty="0"/>
              <a:t>It helps businesses maintain: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Accounts (income &amp; expenses)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Inventory (stock management)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Tax calculations (GST, etc.) </a:t>
            </a:r>
          </a:p>
          <a:p>
            <a:endParaRPr lang="en-US" sz="2400" dirty="0"/>
          </a:p>
          <a:p>
            <a:r>
              <a:rPr lang="en-US" sz="2400" b="1" dirty="0"/>
              <a:t>👉 Developed by Tally Solutions Pvt Ltd, India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C44FA4-F29A-401F-8886-7CF1C9CE9F45}"/>
              </a:ext>
            </a:extLst>
          </p:cNvPr>
          <p:cNvSpPr txBox="1"/>
          <p:nvPr/>
        </p:nvSpPr>
        <p:spPr>
          <a:xfrm>
            <a:off x="1052051" y="4520057"/>
            <a:ext cx="888836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Short History of Tally</a:t>
            </a:r>
          </a:p>
          <a:p>
            <a:endParaRPr lang="en-US" sz="1000" b="1" dirty="0"/>
          </a:p>
          <a:p>
            <a:r>
              <a:rPr lang="en-US" sz="2400" dirty="0"/>
              <a:t>1986 → First version of Tally launched </a:t>
            </a:r>
          </a:p>
          <a:p>
            <a:r>
              <a:rPr lang="en-US" sz="2400" dirty="0"/>
              <a:t>Developed in India </a:t>
            </a:r>
          </a:p>
          <a:p>
            <a:r>
              <a:rPr lang="en-US" sz="2400" dirty="0"/>
              <a:t>Popular version: </a:t>
            </a:r>
            <a:r>
              <a:rPr lang="en-US" sz="2400" b="1" dirty="0"/>
              <a:t>Tally ERP 9</a:t>
            </a:r>
            <a:r>
              <a:rPr lang="en-US" sz="2400" dirty="0"/>
              <a:t> </a:t>
            </a:r>
          </a:p>
          <a:p>
            <a:r>
              <a:rPr lang="en-US" sz="2400" dirty="0"/>
              <a:t>Latest version: </a:t>
            </a:r>
            <a:r>
              <a:rPr lang="en-US" sz="2400" b="1" dirty="0"/>
              <a:t>Tally Prime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E69016-F10A-4989-BA09-98540F7C4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652" y="2276223"/>
            <a:ext cx="4196802" cy="324394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42140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82D1A-8108-4273-B736-66A8AD324D84}"/>
              </a:ext>
            </a:extLst>
          </p:cNvPr>
          <p:cNvSpPr txBox="1"/>
          <p:nvPr/>
        </p:nvSpPr>
        <p:spPr>
          <a:xfrm>
            <a:off x="1278194" y="707923"/>
            <a:ext cx="984209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Why Do We Use Tally?</a:t>
            </a:r>
          </a:p>
          <a:p>
            <a:pPr algn="ctr"/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dirty="0"/>
              <a:t>Tally is used to </a:t>
            </a:r>
            <a:r>
              <a:rPr lang="en-US" sz="2400" b="1" dirty="0"/>
              <a:t>simplify accounting work</a:t>
            </a:r>
            <a:r>
              <a:rPr lang="en-US" sz="2400" dirty="0"/>
              <a:t> and reduce manual effort.</a:t>
            </a:r>
          </a:p>
          <a:p>
            <a:endParaRPr lang="en-US" sz="2400" dirty="0"/>
          </a:p>
          <a:p>
            <a:r>
              <a:rPr lang="en-US" sz="2400" b="1" dirty="0"/>
              <a:t>Main Reasons:</a:t>
            </a:r>
          </a:p>
          <a:p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Manual accounting is time-consuming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Chances of errors are high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Difficult to manage large data  </a:t>
            </a:r>
          </a:p>
          <a:p>
            <a:endParaRPr lang="en-US" sz="2400" dirty="0"/>
          </a:p>
          <a:p>
            <a:r>
              <a:rPr lang="en-US" sz="2400" dirty="0"/>
              <a:t>Note: 👉 Tally solves all these problems by </a:t>
            </a:r>
            <a:r>
              <a:rPr lang="en-US" sz="2400" b="1" dirty="0"/>
              <a:t>automation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1265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31A386-82AC-45AF-9374-8A1F092EAE8C}"/>
              </a:ext>
            </a:extLst>
          </p:cNvPr>
          <p:cNvSpPr txBox="1"/>
          <p:nvPr/>
        </p:nvSpPr>
        <p:spPr>
          <a:xfrm>
            <a:off x="894734" y="289679"/>
            <a:ext cx="97142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Key Features of Tally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Easy to use interface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Fast data entry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Automatic calculations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GST support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Inventory management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Report generation (Profit &amp; Loss, Balance Sheet)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7E1F3-BF22-4185-A3AF-21A36705D1DF}"/>
              </a:ext>
            </a:extLst>
          </p:cNvPr>
          <p:cNvSpPr txBox="1"/>
          <p:nvPr/>
        </p:nvSpPr>
        <p:spPr>
          <a:xfrm>
            <a:off x="894733" y="3429000"/>
            <a:ext cx="9714271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Tally is widely used in different sectors:</a:t>
            </a:r>
            <a:endParaRPr lang="en-US" sz="3200" b="1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Small &amp; Medium Businesses (SMEs)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Retail Shops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Chartered Accountant Offices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Manufacturing Companies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Service-based Companies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381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E4A898-49A2-4D56-8226-3E765F9BF47E}"/>
              </a:ext>
            </a:extLst>
          </p:cNvPr>
          <p:cNvSpPr txBox="1"/>
          <p:nvPr/>
        </p:nvSpPr>
        <p:spPr>
          <a:xfrm>
            <a:off x="963561" y="540774"/>
            <a:ext cx="942913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Pros and Cons of Tally</a:t>
            </a:r>
            <a:endParaRPr lang="en-US" sz="32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Pros: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User-friendly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Reliable and accurate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Widely used in India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Supports GST </a:t>
            </a:r>
          </a:p>
          <a:p>
            <a:endParaRPr lang="en-US" sz="2800" dirty="0"/>
          </a:p>
          <a:p>
            <a:r>
              <a:rPr lang="en-US" sz="2800" b="1" dirty="0"/>
              <a:t>Cons: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Paid software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Requires basic accounting knowledge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Limited customization compared to advanced ERP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938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2EF44B-AE90-4A8D-A8DE-186AB4552833}"/>
              </a:ext>
            </a:extLst>
          </p:cNvPr>
          <p:cNvSpPr txBox="1"/>
          <p:nvPr/>
        </p:nvSpPr>
        <p:spPr>
          <a:xfrm>
            <a:off x="776748" y="717755"/>
            <a:ext cx="1087447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What is Debit and Credit in Tally?</a:t>
            </a:r>
          </a:p>
          <a:p>
            <a:endParaRPr lang="en-US" sz="2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Arial" panose="020B0604020202020204" pitchFamily="34" charset="0"/>
              </a:rPr>
              <a:t>Basic Meaning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b="1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Debit (Dr)</a:t>
            </a:r>
            <a:r>
              <a:rPr lang="en-US" altLang="en-US" sz="2800" dirty="0">
                <a:latin typeface="Arial" panose="020B0604020202020204" pitchFamily="34" charset="0"/>
              </a:rPr>
              <a:t> → “Value comes in” or </a:t>
            </a:r>
            <a:r>
              <a:rPr lang="en-US" altLang="en-US" sz="2800" b="1" dirty="0">
                <a:latin typeface="Arial" panose="020B0604020202020204" pitchFamily="34" charset="0"/>
              </a:rPr>
              <a:t>increase in assets/expenses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Credit (Cr)</a:t>
            </a:r>
            <a:r>
              <a:rPr lang="en-US" altLang="en-US" sz="2800" dirty="0">
                <a:latin typeface="Arial" panose="020B0604020202020204" pitchFamily="34" charset="0"/>
              </a:rPr>
              <a:t> → “Value goes out” or </a:t>
            </a:r>
            <a:r>
              <a:rPr lang="en-US" altLang="en-US" sz="2800" b="1" dirty="0">
                <a:latin typeface="Arial" panose="020B0604020202020204" pitchFamily="34" charset="0"/>
              </a:rPr>
              <a:t>increase in liabilities/income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👉 In Tally, every transaction follows </a:t>
            </a:r>
            <a:r>
              <a:rPr lang="en-US" altLang="en-US" sz="2800" b="1" dirty="0">
                <a:latin typeface="Arial" panose="020B0604020202020204" pitchFamily="34" charset="0"/>
              </a:rPr>
              <a:t>double-entry system</a:t>
            </a:r>
            <a:r>
              <a:rPr lang="en-US" altLang="en-US" sz="2800" dirty="0">
                <a:latin typeface="Arial" panose="020B0604020202020204" pitchFamily="34" charset="0"/>
              </a:rPr>
              <a:t>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Arial" panose="020B0604020202020204" pitchFamily="34" charset="0"/>
              </a:rPr>
              <a:t>Every Debit has a corresponding Credit</a:t>
            </a:r>
            <a:endParaRPr lang="en-US" altLang="en-US" sz="28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962948F-4E70-48C5-BFD8-44EF1B8FB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9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572CA0-94FF-427D-8737-244321F011E4}"/>
              </a:ext>
            </a:extLst>
          </p:cNvPr>
          <p:cNvSpPr txBox="1"/>
          <p:nvPr/>
        </p:nvSpPr>
        <p:spPr>
          <a:xfrm>
            <a:off x="1425676" y="595723"/>
            <a:ext cx="906534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FF0000"/>
                </a:solidFill>
              </a:rPr>
              <a:t>Practice Questions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Mr. Sharma purchased a laptop in cash ₹22,000.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Mr. Sharma purchased an office desk ₹6,000 and office chair ₹3,500 in cash.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Mr. Sharma opened a bank account in HDFC Bank by depositing cash ₹40,000.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Mr. Sharma purchased stationery items in cash ₹3,200.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Mr. Sharma purchased a printer ₹8,000 from Gupta Traders on credit.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Mr. Sharma paid cash ₹8,000 to Gupta Traders.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366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8B41AAF-08F8-450E-9434-7E27F32ED2E4}"/>
              </a:ext>
            </a:extLst>
          </p:cNvPr>
          <p:cNvSpPr txBox="1"/>
          <p:nvPr/>
        </p:nvSpPr>
        <p:spPr>
          <a:xfrm>
            <a:off x="1475212" y="458956"/>
            <a:ext cx="1003873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1. Purchased laptop for cash ₹22,000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Laptop (Asset ↑)          → Debit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Cash ↓                         → Credit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Laptop                   A/c Dr 22,000 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To Cash                A/c 22,000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2. Purchased desk &amp; chair ₹9,500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(6000 + 3500)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Furniture (Asset ↑)            → Debit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Cash ↓                              → Credit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Furniture                          A/c Dr 9,500 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To Cash                           A/c 9,500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3. Deposited cash into bank ₹40,000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Bank (Asset ↑)                   → Debit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Cash ↓                               → Credit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Bank                                 A/c Dr 40,000 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To Cash                            A/c 40,000</a:t>
            </a:r>
            <a:endParaRPr lang="en-IN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913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E25EC5F-92A6-4FED-B1FC-A85E6445D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23" y="274767"/>
            <a:ext cx="11030673" cy="6678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Arial" panose="020B0604020202020204" pitchFamily="34" charset="0"/>
              </a:rPr>
              <a:t>4. Purchased stationery ₹3,200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Stationery (Expense)        → Debit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Cash ↓                              → Credit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Stationery                         A/c Dr 3,200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To Cash                            A/c 3,200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Arial" panose="020B0604020202020204" pitchFamily="34" charset="0"/>
              </a:rPr>
              <a:t>5. Purchased printer on credit ₹8,000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Printer (Asset ↑)                         → Debit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Gupta Traders (Creditor ↑)         → Credit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Printer                                         A/c Dr 8,000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To Gupta Traders                       A/c 8,000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Arial" panose="020B0604020202020204" pitchFamily="34" charset="0"/>
              </a:rPr>
              <a:t>6. Paid cash to Gupta Traders ₹8,000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Gupta Traders (Liability ↓)                     → Debit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Cash ↓                                                   → Credit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Gupta Traders                                       A/c Dr 8,000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To Cash                                                 A/c 8,000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060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3174A5-0BE8-4A3F-ADF0-17B63DAB8A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2" b="8631"/>
          <a:stretch/>
        </p:blipFill>
        <p:spPr>
          <a:xfrm>
            <a:off x="924560" y="0"/>
            <a:ext cx="105562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835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F8EE975-9604-4091-9C5B-8923852C0A6F}"/>
              </a:ext>
            </a:extLst>
          </p:cNvPr>
          <p:cNvSpPr txBox="1"/>
          <p:nvPr/>
        </p:nvSpPr>
        <p:spPr>
          <a:xfrm>
            <a:off x="1158240" y="472504"/>
            <a:ext cx="53543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1 Real Account (Assets)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Represents assets (things owned by business)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Examples: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Cash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Bank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Furniture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Computer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Rule: Debit what comes in, Credit what goes out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2 Personal Account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Represents person, company, or organization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Examples: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Ram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Gupta Traders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Bank (as institution)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Rule: Debit the receiver, Credit the giver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2E3EAB-2CFD-46E9-8EB4-4B8BC2DDEFA9}"/>
              </a:ext>
            </a:extLst>
          </p:cNvPr>
          <p:cNvSpPr txBox="1"/>
          <p:nvPr/>
        </p:nvSpPr>
        <p:spPr>
          <a:xfrm>
            <a:off x="6807199" y="822960"/>
            <a:ext cx="4981677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3 Nominal Account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Represents expenses, losses, income, gains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Examples: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Arial" panose="020B0604020202020204" pitchFamily="34" charset="0"/>
              </a:rPr>
              <a:t>Salary 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Arial" panose="020B0604020202020204" pitchFamily="34" charset="0"/>
              </a:rPr>
              <a:t>Rent 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Arial" panose="020B0604020202020204" pitchFamily="34" charset="0"/>
              </a:rPr>
              <a:t>Commission 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Arial" panose="020B0604020202020204" pitchFamily="34" charset="0"/>
              </a:rPr>
              <a:t>Interest 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Rule: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Debit all expenses and losses, Credit all incomes and gains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20820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7009884-9EDA-4EF1-A6A8-E3137A46930C}"/>
              </a:ext>
            </a:extLst>
          </p:cNvPr>
          <p:cNvSpPr txBox="1"/>
          <p:nvPr/>
        </p:nvSpPr>
        <p:spPr>
          <a:xfrm>
            <a:off x="1209040" y="393282"/>
            <a:ext cx="939800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</a:rPr>
              <a:t>Practice Questions</a:t>
            </a:r>
          </a:p>
          <a:p>
            <a:r>
              <a:rPr lang="en-US" sz="2800" dirty="0"/>
              <a:t>Q1. Mohan Purchased furniture for cash ₹12,000</a:t>
            </a:r>
          </a:p>
          <a:p>
            <a:r>
              <a:rPr lang="en-US" sz="2800" dirty="0"/>
              <a:t>Q2. Mohan Paid salary ₹6,000</a:t>
            </a:r>
          </a:p>
          <a:p>
            <a:r>
              <a:rPr lang="en-US" sz="2800" dirty="0"/>
              <a:t>Q3. Mohan Received commission ₹2,500</a:t>
            </a:r>
          </a:p>
          <a:p>
            <a:r>
              <a:rPr lang="en-US" sz="2800" dirty="0"/>
              <a:t>Q4. Mohan Purchased goods from Raj Traders on credit ₹9,000</a:t>
            </a:r>
          </a:p>
          <a:p>
            <a:r>
              <a:rPr lang="en-US" sz="2800" dirty="0"/>
              <a:t>Q5. Mohan Paid cash to Raj Traders ₹9,000</a:t>
            </a:r>
          </a:p>
          <a:p>
            <a:r>
              <a:rPr lang="en-US" sz="2800" dirty="0"/>
              <a:t>Q6. Mohan Paid rent ₹4,000 in cash</a:t>
            </a:r>
          </a:p>
          <a:p>
            <a:r>
              <a:rPr lang="en-US" sz="2800" dirty="0"/>
              <a:t>Q7. Mohan Received cash from Mohan ₹7,000</a:t>
            </a:r>
          </a:p>
          <a:p>
            <a:r>
              <a:rPr lang="en-US" sz="2800" dirty="0"/>
              <a:t>Q8. Mohan Purchased computer on credit from Star Computers ₹25,000</a:t>
            </a:r>
          </a:p>
          <a:p>
            <a:r>
              <a:rPr lang="en-US" sz="2800" dirty="0"/>
              <a:t>Q9. Mohan Paid electricity bill ₹2,200</a:t>
            </a:r>
          </a:p>
          <a:p>
            <a:r>
              <a:rPr lang="en-US" sz="2800" dirty="0"/>
              <a:t>Q10. Mohan Received interest ₹1,500 in bank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01728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9FB50A-DEE9-4AE1-96A8-87B3A02AE088}"/>
              </a:ext>
            </a:extLst>
          </p:cNvPr>
          <p:cNvSpPr txBox="1"/>
          <p:nvPr/>
        </p:nvSpPr>
        <p:spPr>
          <a:xfrm>
            <a:off x="943897" y="613458"/>
            <a:ext cx="442451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Q1 Solution</a:t>
            </a:r>
            <a:endParaRPr lang="en-US" sz="2000" dirty="0"/>
          </a:p>
          <a:p>
            <a:r>
              <a:rPr lang="en-US" sz="2000" dirty="0"/>
              <a:t>Furniture → Real Account (Asset)</a:t>
            </a:r>
          </a:p>
          <a:p>
            <a:r>
              <a:rPr lang="en-US" sz="2000" dirty="0"/>
              <a:t>Cash → Real Account</a:t>
            </a:r>
          </a:p>
          <a:p>
            <a:endParaRPr lang="en-US" sz="2000" dirty="0"/>
          </a:p>
          <a:p>
            <a:r>
              <a:rPr lang="en-US" sz="2000" dirty="0"/>
              <a:t>Entry:</a:t>
            </a:r>
          </a:p>
          <a:p>
            <a:endParaRPr lang="en-US" sz="2000" dirty="0"/>
          </a:p>
          <a:p>
            <a:r>
              <a:rPr lang="en-US" sz="2000" dirty="0"/>
              <a:t>Furniture A/c Dr 12,000  </a:t>
            </a:r>
          </a:p>
          <a:p>
            <a:r>
              <a:rPr lang="en-US" sz="2000" dirty="0"/>
              <a:t>To Cash A/c 12,000</a:t>
            </a:r>
          </a:p>
          <a:p>
            <a:endParaRPr lang="en-US" sz="2000" dirty="0"/>
          </a:p>
          <a:p>
            <a:r>
              <a:rPr lang="en-US" sz="2000" b="1" dirty="0"/>
              <a:t>Q2 Solution</a:t>
            </a:r>
          </a:p>
          <a:p>
            <a:r>
              <a:rPr lang="en-US" sz="2000" dirty="0"/>
              <a:t>Salary → Nominal Account (Expense)</a:t>
            </a:r>
          </a:p>
          <a:p>
            <a:r>
              <a:rPr lang="en-US" sz="2000" dirty="0"/>
              <a:t>Cash → Real Account</a:t>
            </a:r>
          </a:p>
          <a:p>
            <a:endParaRPr lang="en-US" sz="2000" dirty="0"/>
          </a:p>
          <a:p>
            <a:r>
              <a:rPr lang="en-US" sz="2000" dirty="0"/>
              <a:t>👉 Entry:</a:t>
            </a:r>
          </a:p>
          <a:p>
            <a:endParaRPr lang="en-US" sz="2000" dirty="0"/>
          </a:p>
          <a:p>
            <a:r>
              <a:rPr lang="en-US" sz="2000" dirty="0"/>
              <a:t>Salary A/c Dr 6,000  </a:t>
            </a:r>
          </a:p>
          <a:p>
            <a:r>
              <a:rPr lang="en-US" sz="2000" dirty="0"/>
              <a:t>   To Cash A/c 6,000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E1B7C4-0339-4BA7-97B3-2328BDEEE4E5}"/>
              </a:ext>
            </a:extLst>
          </p:cNvPr>
          <p:cNvSpPr txBox="1"/>
          <p:nvPr/>
        </p:nvSpPr>
        <p:spPr>
          <a:xfrm>
            <a:off x="5938684" y="613458"/>
            <a:ext cx="501445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Q3 Solution</a:t>
            </a:r>
          </a:p>
          <a:p>
            <a:r>
              <a:rPr lang="en-US" sz="2000" dirty="0"/>
              <a:t>Cash → Real Account</a:t>
            </a:r>
          </a:p>
          <a:p>
            <a:r>
              <a:rPr lang="en-US" sz="2000" dirty="0"/>
              <a:t>Commission → Nominal Account (Income)</a:t>
            </a:r>
          </a:p>
          <a:p>
            <a:endParaRPr lang="en-US" sz="2000" dirty="0"/>
          </a:p>
          <a:p>
            <a:r>
              <a:rPr lang="en-US" sz="2000" dirty="0"/>
              <a:t>Entry:</a:t>
            </a:r>
          </a:p>
          <a:p>
            <a:endParaRPr lang="en-US" sz="2000" dirty="0"/>
          </a:p>
          <a:p>
            <a:r>
              <a:rPr lang="en-US" sz="2000" dirty="0"/>
              <a:t>Cash A/c Dr 2,500  </a:t>
            </a:r>
          </a:p>
          <a:p>
            <a:r>
              <a:rPr lang="en-US" sz="2000" dirty="0"/>
              <a:t>   To Commission A/c 2,500</a:t>
            </a:r>
          </a:p>
          <a:p>
            <a:endParaRPr lang="en-US" sz="2000" dirty="0"/>
          </a:p>
          <a:p>
            <a:r>
              <a:rPr lang="en-IN" sz="2000" b="1" dirty="0"/>
              <a:t>Q4 Solution</a:t>
            </a:r>
          </a:p>
          <a:p>
            <a:endParaRPr lang="en-IN" sz="2000" b="1" dirty="0"/>
          </a:p>
          <a:p>
            <a:r>
              <a:rPr lang="en-IN" sz="2000" dirty="0"/>
              <a:t>Purchases → Nominal Account</a:t>
            </a:r>
          </a:p>
          <a:p>
            <a:r>
              <a:rPr lang="en-IN" sz="2000" dirty="0"/>
              <a:t>Raj Traders → Personal Account</a:t>
            </a:r>
          </a:p>
          <a:p>
            <a:endParaRPr lang="en-IN" sz="2000" dirty="0"/>
          </a:p>
          <a:p>
            <a:r>
              <a:rPr lang="en-IN" sz="2000" dirty="0"/>
              <a:t>Entry:</a:t>
            </a:r>
          </a:p>
          <a:p>
            <a:endParaRPr lang="en-IN" sz="2000" dirty="0"/>
          </a:p>
          <a:p>
            <a:r>
              <a:rPr lang="en-IN" sz="2000" dirty="0"/>
              <a:t>Purchases A/c Dr 9,000  </a:t>
            </a:r>
          </a:p>
          <a:p>
            <a:r>
              <a:rPr lang="en-IN" sz="2000" dirty="0"/>
              <a:t>To Raj Traders A/c 9,000</a:t>
            </a:r>
          </a:p>
        </p:txBody>
      </p:sp>
    </p:spTree>
    <p:extLst>
      <p:ext uri="{BB962C8B-B14F-4D97-AF65-F5344CB8AC3E}">
        <p14:creationId xmlns:p14="http://schemas.microsoft.com/office/powerpoint/2010/main" val="581325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011569-76CB-4E49-B60A-B4C89897ECBA}"/>
              </a:ext>
            </a:extLst>
          </p:cNvPr>
          <p:cNvSpPr txBox="1"/>
          <p:nvPr/>
        </p:nvSpPr>
        <p:spPr>
          <a:xfrm>
            <a:off x="1367303" y="720999"/>
            <a:ext cx="472869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Q5 Solution</a:t>
            </a:r>
          </a:p>
          <a:p>
            <a:endParaRPr lang="en-IN" b="1" dirty="0"/>
          </a:p>
          <a:p>
            <a:r>
              <a:rPr lang="en-IN" dirty="0"/>
              <a:t>Raj Traders → Personal Account</a:t>
            </a:r>
          </a:p>
          <a:p>
            <a:r>
              <a:rPr lang="en-IN" dirty="0"/>
              <a:t>Cash → Real Account</a:t>
            </a:r>
          </a:p>
          <a:p>
            <a:endParaRPr lang="en-IN" dirty="0"/>
          </a:p>
          <a:p>
            <a:r>
              <a:rPr lang="en-IN" dirty="0"/>
              <a:t>Entry:</a:t>
            </a:r>
          </a:p>
          <a:p>
            <a:endParaRPr lang="en-IN" dirty="0"/>
          </a:p>
          <a:p>
            <a:r>
              <a:rPr lang="en-IN" dirty="0"/>
              <a:t>Raj Traders A/c Dr 9,000  </a:t>
            </a:r>
          </a:p>
          <a:p>
            <a:r>
              <a:rPr lang="en-IN" dirty="0"/>
              <a:t>To Cash A/c 9,000</a:t>
            </a:r>
          </a:p>
          <a:p>
            <a:endParaRPr lang="en-IN" dirty="0"/>
          </a:p>
          <a:p>
            <a:r>
              <a:rPr lang="en-IN" b="1" dirty="0"/>
              <a:t>Q6 Solution</a:t>
            </a:r>
          </a:p>
          <a:p>
            <a:endParaRPr lang="en-IN" b="1" dirty="0"/>
          </a:p>
          <a:p>
            <a:r>
              <a:rPr lang="en-IN" dirty="0"/>
              <a:t>Rent → Nominal Account (Expense)</a:t>
            </a:r>
          </a:p>
          <a:p>
            <a:r>
              <a:rPr lang="en-IN" dirty="0"/>
              <a:t>Cash → Real Account</a:t>
            </a:r>
          </a:p>
          <a:p>
            <a:endParaRPr lang="en-IN" dirty="0"/>
          </a:p>
          <a:p>
            <a:r>
              <a:rPr lang="en-IN" dirty="0"/>
              <a:t>Entry:</a:t>
            </a:r>
          </a:p>
          <a:p>
            <a:endParaRPr lang="en-IN" dirty="0"/>
          </a:p>
          <a:p>
            <a:r>
              <a:rPr lang="en-IN" dirty="0"/>
              <a:t>Rent A/c Dr 4,000  </a:t>
            </a:r>
          </a:p>
          <a:p>
            <a:r>
              <a:rPr lang="en-IN" dirty="0"/>
              <a:t>   To Cash A/c 4,000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B9AEA-3AC1-4CFB-B846-97999EB21192}"/>
              </a:ext>
            </a:extLst>
          </p:cNvPr>
          <p:cNvSpPr txBox="1"/>
          <p:nvPr/>
        </p:nvSpPr>
        <p:spPr>
          <a:xfrm>
            <a:off x="6551768" y="720999"/>
            <a:ext cx="385076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Q7 Solution</a:t>
            </a:r>
          </a:p>
          <a:p>
            <a:endParaRPr lang="en-IN" b="1" dirty="0"/>
          </a:p>
          <a:p>
            <a:r>
              <a:rPr lang="en-IN" dirty="0"/>
              <a:t>Cash → Real Account</a:t>
            </a:r>
          </a:p>
          <a:p>
            <a:r>
              <a:rPr lang="en-IN" dirty="0"/>
              <a:t>Mohan → Personal Account</a:t>
            </a:r>
          </a:p>
          <a:p>
            <a:endParaRPr lang="en-IN" dirty="0"/>
          </a:p>
          <a:p>
            <a:r>
              <a:rPr lang="en-IN" dirty="0"/>
              <a:t>Entry:</a:t>
            </a:r>
          </a:p>
          <a:p>
            <a:endParaRPr lang="en-IN" dirty="0"/>
          </a:p>
          <a:p>
            <a:r>
              <a:rPr lang="en-IN" dirty="0"/>
              <a:t>Cash A/c Dr 7,000  </a:t>
            </a:r>
          </a:p>
          <a:p>
            <a:r>
              <a:rPr lang="en-IN" dirty="0"/>
              <a:t>   To Mohan A/c 7,000</a:t>
            </a:r>
          </a:p>
          <a:p>
            <a:endParaRPr lang="en-IN" dirty="0"/>
          </a:p>
          <a:p>
            <a:r>
              <a:rPr lang="en-IN" b="1" dirty="0"/>
              <a:t>Q8 Solution</a:t>
            </a:r>
          </a:p>
          <a:p>
            <a:r>
              <a:rPr lang="en-IN" dirty="0"/>
              <a:t>Computer → Real Account (Asset)</a:t>
            </a:r>
          </a:p>
          <a:p>
            <a:r>
              <a:rPr lang="en-IN" dirty="0"/>
              <a:t>Star Computers → Personal Account</a:t>
            </a:r>
          </a:p>
          <a:p>
            <a:endParaRPr lang="en-IN" dirty="0"/>
          </a:p>
          <a:p>
            <a:r>
              <a:rPr lang="en-IN" dirty="0"/>
              <a:t>👉 Entry:</a:t>
            </a:r>
          </a:p>
          <a:p>
            <a:endParaRPr lang="en-IN" dirty="0"/>
          </a:p>
          <a:p>
            <a:r>
              <a:rPr lang="en-IN" dirty="0"/>
              <a:t>Computer A/c Dr 25,000  </a:t>
            </a:r>
          </a:p>
          <a:p>
            <a:r>
              <a:rPr lang="en-IN" dirty="0"/>
              <a:t>   To Star Computers A/c 25,000</a:t>
            </a:r>
          </a:p>
        </p:txBody>
      </p:sp>
    </p:spTree>
    <p:extLst>
      <p:ext uri="{BB962C8B-B14F-4D97-AF65-F5344CB8AC3E}">
        <p14:creationId xmlns:p14="http://schemas.microsoft.com/office/powerpoint/2010/main" val="2869702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05F57A-AAD7-43E7-B8FB-169568319626}"/>
              </a:ext>
            </a:extLst>
          </p:cNvPr>
          <p:cNvSpPr txBox="1"/>
          <p:nvPr/>
        </p:nvSpPr>
        <p:spPr>
          <a:xfrm>
            <a:off x="937549" y="474562"/>
            <a:ext cx="884305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Q9 Solution</a:t>
            </a:r>
          </a:p>
          <a:p>
            <a:endParaRPr lang="en-US" b="1" dirty="0"/>
          </a:p>
          <a:p>
            <a:r>
              <a:rPr lang="en-US" dirty="0"/>
              <a:t>Electricity → Nominal Account (Expense)</a:t>
            </a:r>
          </a:p>
          <a:p>
            <a:r>
              <a:rPr lang="en-US" dirty="0"/>
              <a:t>Cash → Real Account</a:t>
            </a:r>
          </a:p>
          <a:p>
            <a:endParaRPr lang="en-US" dirty="0"/>
          </a:p>
          <a:p>
            <a:r>
              <a:rPr lang="en-US" dirty="0"/>
              <a:t>Entry:</a:t>
            </a:r>
          </a:p>
          <a:p>
            <a:endParaRPr lang="en-US" dirty="0"/>
          </a:p>
          <a:p>
            <a:r>
              <a:rPr lang="en-US" dirty="0"/>
              <a:t>Electricity A/c Dr 2,200  </a:t>
            </a:r>
          </a:p>
          <a:p>
            <a:r>
              <a:rPr lang="en-US" dirty="0"/>
              <a:t>   To Cash A/c 2,200</a:t>
            </a:r>
          </a:p>
          <a:p>
            <a:endParaRPr lang="en-US" dirty="0"/>
          </a:p>
          <a:p>
            <a:r>
              <a:rPr lang="en-US" b="1" dirty="0"/>
              <a:t>Q10 Solution</a:t>
            </a:r>
          </a:p>
          <a:p>
            <a:endParaRPr lang="en-US" b="1" dirty="0"/>
          </a:p>
          <a:p>
            <a:r>
              <a:rPr lang="en-US" dirty="0"/>
              <a:t>Bank → Real Account</a:t>
            </a:r>
          </a:p>
          <a:p>
            <a:r>
              <a:rPr lang="en-US" dirty="0"/>
              <a:t>Interest → Nominal Account (Income)</a:t>
            </a:r>
          </a:p>
          <a:p>
            <a:endParaRPr lang="en-US" dirty="0"/>
          </a:p>
          <a:p>
            <a:r>
              <a:rPr lang="en-US" dirty="0"/>
              <a:t>Entry:</a:t>
            </a:r>
          </a:p>
          <a:p>
            <a:endParaRPr lang="en-US" dirty="0"/>
          </a:p>
          <a:p>
            <a:r>
              <a:rPr lang="en-US" dirty="0"/>
              <a:t>Bank A/c Dr 1,500  </a:t>
            </a:r>
          </a:p>
          <a:p>
            <a:r>
              <a:rPr lang="en-US" dirty="0"/>
              <a:t>   To Interest A/c 1,500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8874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44639C-6084-48B9-A7CF-A3859AD4D097}"/>
              </a:ext>
            </a:extLst>
          </p:cNvPr>
          <p:cNvSpPr txBox="1"/>
          <p:nvPr/>
        </p:nvSpPr>
        <p:spPr>
          <a:xfrm>
            <a:off x="856527" y="381965"/>
            <a:ext cx="9713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</a:rPr>
              <a:t>3 Types of Organization in Tally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587FFB-7142-45ED-A992-9A2906D5B499}"/>
              </a:ext>
            </a:extLst>
          </p:cNvPr>
          <p:cNvSpPr txBox="1"/>
          <p:nvPr/>
        </p:nvSpPr>
        <p:spPr>
          <a:xfrm>
            <a:off x="1192192" y="1099595"/>
            <a:ext cx="7778188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1. Service Organization</a:t>
            </a:r>
          </a:p>
          <a:p>
            <a:r>
              <a:rPr lang="en-US" sz="2000" dirty="0"/>
              <a:t>Provides </a:t>
            </a:r>
            <a:r>
              <a:rPr lang="en-US" sz="2000" b="1" dirty="0"/>
              <a:t>services</a:t>
            </a:r>
            <a:r>
              <a:rPr lang="en-US" sz="2000" dirty="0"/>
              <a:t>, not physical goods</a:t>
            </a:r>
          </a:p>
          <a:p>
            <a:endParaRPr lang="en-US" sz="2000" dirty="0"/>
          </a:p>
          <a:p>
            <a:r>
              <a:rPr lang="en-US" sz="2000" b="1" dirty="0"/>
              <a:t>Examples:</a:t>
            </a:r>
            <a:endParaRPr lang="en-US" sz="2000" dirty="0"/>
          </a:p>
          <a:p>
            <a:r>
              <a:rPr lang="en-US" sz="2000" dirty="0"/>
              <a:t>Coaching institute </a:t>
            </a:r>
          </a:p>
          <a:p>
            <a:r>
              <a:rPr lang="en-US" sz="2000" dirty="0"/>
              <a:t>IT company </a:t>
            </a:r>
          </a:p>
          <a:p>
            <a:r>
              <a:rPr lang="en-US" sz="2000" dirty="0"/>
              <a:t>Consultancy services </a:t>
            </a:r>
          </a:p>
          <a:p>
            <a:r>
              <a:rPr lang="en-US" sz="2000" dirty="0"/>
              <a:t>Repair services </a:t>
            </a:r>
          </a:p>
          <a:p>
            <a:endParaRPr lang="en-US" sz="2000" dirty="0"/>
          </a:p>
          <a:p>
            <a:r>
              <a:rPr lang="en-US" sz="2000" b="1" dirty="0"/>
              <a:t>Features:</a:t>
            </a:r>
            <a:endParaRPr lang="en-US" sz="2000" dirty="0"/>
          </a:p>
          <a:p>
            <a:r>
              <a:rPr lang="en-US" sz="2000" dirty="0"/>
              <a:t>No inventory (stock) </a:t>
            </a:r>
          </a:p>
          <a:p>
            <a:r>
              <a:rPr lang="en-US" sz="2000" dirty="0"/>
              <a:t>Income comes from services </a:t>
            </a:r>
          </a:p>
          <a:p>
            <a:r>
              <a:rPr lang="en-US" sz="2000" dirty="0"/>
              <a:t>Simple accounting </a:t>
            </a:r>
          </a:p>
          <a:p>
            <a:endParaRPr lang="en-US" sz="2000" dirty="0"/>
          </a:p>
          <a:p>
            <a:r>
              <a:rPr lang="en-US" sz="2000" b="1" dirty="0"/>
              <a:t>In Tally:</a:t>
            </a:r>
            <a:endParaRPr lang="en-US" sz="2000" dirty="0"/>
          </a:p>
          <a:p>
            <a:r>
              <a:rPr lang="en-US" sz="2000" dirty="0"/>
              <a:t>Focus on </a:t>
            </a:r>
            <a:r>
              <a:rPr lang="en-US" sz="2000" b="1" dirty="0"/>
              <a:t>income &amp; expenses</a:t>
            </a:r>
            <a:r>
              <a:rPr lang="en-US" sz="2000" dirty="0"/>
              <a:t> </a:t>
            </a:r>
          </a:p>
          <a:p>
            <a:r>
              <a:rPr lang="en-US" sz="2000" dirty="0"/>
              <a:t>No need for stock management</a:t>
            </a:r>
          </a:p>
        </p:txBody>
      </p:sp>
    </p:spTree>
    <p:extLst>
      <p:ext uri="{BB962C8B-B14F-4D97-AF65-F5344CB8AC3E}">
        <p14:creationId xmlns:p14="http://schemas.microsoft.com/office/powerpoint/2010/main" val="3200913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9A0BA8-021F-4CB6-8F04-0AC7D4F8BBC1}"/>
              </a:ext>
            </a:extLst>
          </p:cNvPr>
          <p:cNvSpPr txBox="1"/>
          <p:nvPr/>
        </p:nvSpPr>
        <p:spPr>
          <a:xfrm>
            <a:off x="1816727" y="428178"/>
            <a:ext cx="799810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2. Trading Organization</a:t>
            </a:r>
          </a:p>
          <a:p>
            <a:r>
              <a:rPr lang="en-US" sz="2400" dirty="0"/>
              <a:t>Buys and sells </a:t>
            </a:r>
            <a:r>
              <a:rPr lang="en-US" sz="2400" b="1" dirty="0"/>
              <a:t>finished goods</a:t>
            </a:r>
          </a:p>
          <a:p>
            <a:endParaRPr lang="en-US" sz="2400" dirty="0"/>
          </a:p>
          <a:p>
            <a:r>
              <a:rPr lang="en-US" sz="2400" b="1" dirty="0"/>
              <a:t>Examples:</a:t>
            </a:r>
            <a:endParaRPr lang="en-US" sz="2400" dirty="0"/>
          </a:p>
          <a:p>
            <a:r>
              <a:rPr lang="en-US" sz="2400" dirty="0"/>
              <a:t>Retail shop </a:t>
            </a:r>
          </a:p>
          <a:p>
            <a:r>
              <a:rPr lang="en-US" sz="2400" dirty="0"/>
              <a:t>Wholesale business </a:t>
            </a:r>
          </a:p>
          <a:p>
            <a:r>
              <a:rPr lang="en-US" sz="2400" dirty="0"/>
              <a:t>E-commerce seller </a:t>
            </a:r>
          </a:p>
          <a:p>
            <a:endParaRPr lang="en-US" sz="2400" dirty="0"/>
          </a:p>
          <a:p>
            <a:r>
              <a:rPr lang="en-US" sz="2400" b="1" dirty="0"/>
              <a:t>Features:</a:t>
            </a:r>
            <a:endParaRPr lang="en-US" sz="2400" dirty="0"/>
          </a:p>
          <a:p>
            <a:r>
              <a:rPr lang="en-US" sz="2400" dirty="0"/>
              <a:t>Has inventory (stock) </a:t>
            </a:r>
          </a:p>
          <a:p>
            <a:r>
              <a:rPr lang="en-US" sz="2400" dirty="0"/>
              <a:t>Profit = Selling Price – Purchase Price </a:t>
            </a:r>
          </a:p>
          <a:p>
            <a:r>
              <a:rPr lang="en-US" sz="2400" dirty="0"/>
              <a:t>No production process </a:t>
            </a:r>
          </a:p>
          <a:p>
            <a:endParaRPr lang="en-US" sz="2400" dirty="0"/>
          </a:p>
          <a:p>
            <a:r>
              <a:rPr lang="en-US" sz="2400" b="1" dirty="0"/>
              <a:t>In Tally:</a:t>
            </a:r>
            <a:endParaRPr lang="en-US" sz="2400" dirty="0"/>
          </a:p>
          <a:p>
            <a:r>
              <a:rPr lang="en-US" sz="2400" dirty="0"/>
              <a:t>Use </a:t>
            </a:r>
            <a:r>
              <a:rPr lang="en-US" sz="2400" b="1" dirty="0"/>
              <a:t>Purchase &amp; Sales entries</a:t>
            </a:r>
            <a:r>
              <a:rPr lang="en-US" sz="2400" dirty="0"/>
              <a:t> </a:t>
            </a:r>
          </a:p>
          <a:p>
            <a:r>
              <a:rPr lang="en-US" sz="2400" dirty="0"/>
              <a:t>Maintain </a:t>
            </a:r>
            <a:r>
              <a:rPr lang="en-US" sz="2400" b="1" dirty="0"/>
              <a:t>stock/inventory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6189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793C82-3E41-4F9F-88AB-B502411864F1}"/>
              </a:ext>
            </a:extLst>
          </p:cNvPr>
          <p:cNvSpPr txBox="1"/>
          <p:nvPr/>
        </p:nvSpPr>
        <p:spPr>
          <a:xfrm>
            <a:off x="1223058" y="458956"/>
            <a:ext cx="904181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3. Manufacturing Organization</a:t>
            </a:r>
          </a:p>
          <a:p>
            <a:r>
              <a:rPr lang="en-US" sz="2000" dirty="0"/>
              <a:t>Produces goods using </a:t>
            </a:r>
            <a:r>
              <a:rPr lang="en-US" sz="2000" b="1" dirty="0"/>
              <a:t>raw materials</a:t>
            </a:r>
          </a:p>
          <a:p>
            <a:endParaRPr lang="en-US" sz="2000" dirty="0"/>
          </a:p>
          <a:p>
            <a:r>
              <a:rPr lang="en-US" sz="2000" b="1" dirty="0"/>
              <a:t>Examples:</a:t>
            </a:r>
            <a:endParaRPr lang="en-US" sz="2000" dirty="0"/>
          </a:p>
          <a:p>
            <a:r>
              <a:rPr lang="en-US" sz="2000" dirty="0"/>
              <a:t>Factory </a:t>
            </a:r>
          </a:p>
          <a:p>
            <a:r>
              <a:rPr lang="en-US" sz="2000" dirty="0"/>
              <a:t>Food production unit </a:t>
            </a:r>
          </a:p>
          <a:p>
            <a:r>
              <a:rPr lang="en-US" sz="2000" dirty="0"/>
              <a:t>Garment manufacturing </a:t>
            </a:r>
          </a:p>
          <a:p>
            <a:endParaRPr lang="en-US" sz="2000" dirty="0"/>
          </a:p>
          <a:p>
            <a:r>
              <a:rPr lang="en-US" sz="2000" b="1" dirty="0"/>
              <a:t>Features:</a:t>
            </a:r>
            <a:endParaRPr lang="en-US" sz="2000" dirty="0"/>
          </a:p>
          <a:p>
            <a:r>
              <a:rPr lang="en-US" sz="2000" dirty="0"/>
              <a:t>Converts raw material → finished goods </a:t>
            </a:r>
          </a:p>
          <a:p>
            <a:r>
              <a:rPr lang="en-US" sz="2000" dirty="0"/>
              <a:t>Includes production process </a:t>
            </a:r>
          </a:p>
          <a:p>
            <a:r>
              <a:rPr lang="en-US" sz="2000" dirty="0"/>
              <a:t>Complex accounting </a:t>
            </a:r>
          </a:p>
          <a:p>
            <a:endParaRPr lang="en-US" sz="2000" dirty="0"/>
          </a:p>
          <a:p>
            <a:r>
              <a:rPr lang="en-US" sz="2000" b="1" dirty="0"/>
              <a:t>In Tally:</a:t>
            </a:r>
            <a:endParaRPr lang="en-US" sz="2000" dirty="0"/>
          </a:p>
          <a:p>
            <a:r>
              <a:rPr lang="en-US" sz="2000" dirty="0"/>
              <a:t>Use </a:t>
            </a:r>
            <a:r>
              <a:rPr lang="en-US" sz="2000" b="1" dirty="0"/>
              <a:t>Stock + Manufacturing entries</a:t>
            </a:r>
            <a:r>
              <a:rPr lang="en-US" sz="2000" dirty="0"/>
              <a:t> </a:t>
            </a:r>
          </a:p>
          <a:p>
            <a:r>
              <a:rPr lang="en-US" sz="2000" dirty="0"/>
              <a:t>Maintain: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Raw Material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Work in Progress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/>
              <a:t>Finished Goods</a:t>
            </a:r>
          </a:p>
        </p:txBody>
      </p:sp>
    </p:spTree>
    <p:extLst>
      <p:ext uri="{BB962C8B-B14F-4D97-AF65-F5344CB8AC3E}">
        <p14:creationId xmlns:p14="http://schemas.microsoft.com/office/powerpoint/2010/main" val="16034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A65E76-0447-4CB0-9B4B-E833736B0AAC}"/>
              </a:ext>
            </a:extLst>
          </p:cNvPr>
          <p:cNvSpPr txBox="1"/>
          <p:nvPr/>
        </p:nvSpPr>
        <p:spPr>
          <a:xfrm>
            <a:off x="682905" y="1381370"/>
            <a:ext cx="5619571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💳 1. Capital Account</a:t>
            </a:r>
          </a:p>
          <a:p>
            <a:endParaRPr lang="en-US" sz="2000" dirty="0"/>
          </a:p>
          <a:p>
            <a:r>
              <a:rPr lang="en-US" sz="2000" dirty="0"/>
              <a:t>👉 Owner’s investment in the business.</a:t>
            </a:r>
          </a:p>
          <a:p>
            <a:r>
              <a:rPr lang="en-US" sz="2000" dirty="0"/>
              <a:t>(Example: Owner’s capital, drawings)</a:t>
            </a:r>
          </a:p>
          <a:p>
            <a:endParaRPr lang="en-US" sz="2000" dirty="0"/>
          </a:p>
          <a:p>
            <a:r>
              <a:rPr lang="en-US" sz="2000" b="1" dirty="0"/>
              <a:t>💳 2. Loans (Liabilities)</a:t>
            </a:r>
          </a:p>
          <a:p>
            <a:endParaRPr lang="en-US" sz="2000" dirty="0"/>
          </a:p>
          <a:p>
            <a:r>
              <a:rPr lang="en-US" sz="2000" dirty="0"/>
              <a:t>👉 Borrowed funds that must be repaid.</a:t>
            </a:r>
          </a:p>
          <a:p>
            <a:r>
              <a:rPr lang="en-US" sz="2000" dirty="0"/>
              <a:t>(Example: Bank loan, unsecured loan)</a:t>
            </a:r>
          </a:p>
          <a:p>
            <a:endParaRPr lang="en-US" sz="2000" dirty="0"/>
          </a:p>
          <a:p>
            <a:r>
              <a:rPr lang="en-US" sz="2000" b="1" dirty="0"/>
              <a:t>📉 3. Current Liabilities</a:t>
            </a:r>
          </a:p>
          <a:p>
            <a:endParaRPr lang="en-US" sz="2000" dirty="0"/>
          </a:p>
          <a:p>
            <a:r>
              <a:rPr lang="en-US" sz="2000" dirty="0"/>
              <a:t>👉 Short-term obligations payable within a year.</a:t>
            </a:r>
          </a:p>
          <a:p>
            <a:r>
              <a:rPr lang="en-US" sz="2000" dirty="0"/>
              <a:t>(Example: Creditors, bills payable)</a:t>
            </a:r>
          </a:p>
          <a:p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C7872F-EA42-4C4C-8D5B-B542A20F68D0}"/>
              </a:ext>
            </a:extLst>
          </p:cNvPr>
          <p:cNvSpPr txBox="1"/>
          <p:nvPr/>
        </p:nvSpPr>
        <p:spPr>
          <a:xfrm>
            <a:off x="6518786" y="1381370"/>
            <a:ext cx="545690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🏢 4. Fixed Assets</a:t>
            </a:r>
          </a:p>
          <a:p>
            <a:endParaRPr lang="en-US" sz="2000" dirty="0"/>
          </a:p>
          <a:p>
            <a:r>
              <a:rPr lang="en-US" sz="2000" dirty="0"/>
              <a:t>👉 Long-term assets used in business.</a:t>
            </a:r>
          </a:p>
          <a:p>
            <a:r>
              <a:rPr lang="en-US" sz="2000" dirty="0"/>
              <a:t>(Example: Building, machinery, furniture)</a:t>
            </a:r>
          </a:p>
          <a:p>
            <a:endParaRPr lang="en-US" sz="2000" dirty="0"/>
          </a:p>
          <a:p>
            <a:r>
              <a:rPr lang="en-US" sz="2000" b="1" dirty="0"/>
              <a:t>📈 5. Investment</a:t>
            </a:r>
          </a:p>
          <a:p>
            <a:endParaRPr lang="en-US" sz="2000" dirty="0"/>
          </a:p>
          <a:p>
            <a:r>
              <a:rPr lang="en-US" sz="2000" dirty="0"/>
              <a:t>👉 Money invested to earn income.</a:t>
            </a:r>
          </a:p>
          <a:p>
            <a:r>
              <a:rPr lang="en-US" sz="2000" dirty="0"/>
              <a:t>(Example: Shares, mutual funds)</a:t>
            </a:r>
          </a:p>
          <a:p>
            <a:endParaRPr lang="en-US" sz="2000" dirty="0"/>
          </a:p>
          <a:p>
            <a:r>
              <a:rPr lang="en-US" sz="2000" b="1" dirty="0"/>
              <a:t>💰 6. Current Assets</a:t>
            </a:r>
          </a:p>
          <a:p>
            <a:endParaRPr lang="en-US" sz="2000" dirty="0"/>
          </a:p>
          <a:p>
            <a:r>
              <a:rPr lang="en-US" sz="2000" dirty="0"/>
              <a:t>👉 Short-term assets easily converted into cash.</a:t>
            </a:r>
          </a:p>
          <a:p>
            <a:r>
              <a:rPr lang="en-US" sz="2000" dirty="0"/>
              <a:t>(Example: Cash, bank, stock, debtors)</a:t>
            </a:r>
          </a:p>
          <a:p>
            <a:endParaRPr lang="en-US" sz="2000" dirty="0"/>
          </a:p>
          <a:p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8650A-A7C5-430B-85CA-1B5F8DF43223}"/>
              </a:ext>
            </a:extLst>
          </p:cNvPr>
          <p:cNvSpPr txBox="1"/>
          <p:nvPr/>
        </p:nvSpPr>
        <p:spPr>
          <a:xfrm>
            <a:off x="855405" y="459872"/>
            <a:ext cx="6164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Pre-defined Groups in Tally (Primary Groups)</a:t>
            </a:r>
          </a:p>
        </p:txBody>
      </p:sp>
    </p:spTree>
    <p:extLst>
      <p:ext uri="{BB962C8B-B14F-4D97-AF65-F5344CB8AC3E}">
        <p14:creationId xmlns:p14="http://schemas.microsoft.com/office/powerpoint/2010/main" val="1481798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FB6BDB-3DF6-4FDF-90A6-C8184DC29CE4}"/>
              </a:ext>
            </a:extLst>
          </p:cNvPr>
          <p:cNvSpPr txBox="1"/>
          <p:nvPr/>
        </p:nvSpPr>
        <p:spPr>
          <a:xfrm>
            <a:off x="530943" y="474562"/>
            <a:ext cx="5427406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📊 7. Miscellaneous Expenses (Assets)</a:t>
            </a:r>
          </a:p>
          <a:p>
            <a:endParaRPr lang="en-US" dirty="0"/>
          </a:p>
          <a:p>
            <a:r>
              <a:rPr lang="en-US" dirty="0"/>
              <a:t>👉 Expenses not written off completely.</a:t>
            </a:r>
          </a:p>
          <a:p>
            <a:r>
              <a:rPr lang="en-US" dirty="0"/>
              <a:t>(Example: Preliminary expenses)</a:t>
            </a:r>
            <a:endParaRPr lang="en-IN" dirty="0"/>
          </a:p>
          <a:p>
            <a:endParaRPr lang="en-US" dirty="0"/>
          </a:p>
          <a:p>
            <a:r>
              <a:rPr lang="en-US" sz="2000" b="1" dirty="0"/>
              <a:t>⚖️ 8. Suspense Account</a:t>
            </a:r>
          </a:p>
          <a:p>
            <a:endParaRPr lang="en-US" dirty="0"/>
          </a:p>
          <a:p>
            <a:r>
              <a:rPr lang="en-US" dirty="0"/>
              <a:t>👉 Temporary account for unknown transactions.</a:t>
            </a:r>
          </a:p>
          <a:p>
            <a:r>
              <a:rPr lang="en-US" dirty="0"/>
              <a:t>(Used until error is identified)</a:t>
            </a:r>
          </a:p>
          <a:p>
            <a:endParaRPr lang="en-US" dirty="0"/>
          </a:p>
          <a:p>
            <a:r>
              <a:rPr lang="en-US" sz="2000" b="1" dirty="0"/>
              <a:t>🏬 9. Branch / Division</a:t>
            </a:r>
          </a:p>
          <a:p>
            <a:endParaRPr lang="en-US" dirty="0"/>
          </a:p>
          <a:p>
            <a:r>
              <a:rPr lang="en-US" dirty="0"/>
              <a:t>👉 Accounts of different branches of a business.</a:t>
            </a:r>
          </a:p>
          <a:p>
            <a:endParaRPr lang="en-US" dirty="0"/>
          </a:p>
          <a:p>
            <a:r>
              <a:rPr lang="en-US" sz="2000" b="1" dirty="0"/>
              <a:t>💵 10. Sales Account</a:t>
            </a:r>
          </a:p>
          <a:p>
            <a:endParaRPr lang="en-US" dirty="0"/>
          </a:p>
          <a:p>
            <a:r>
              <a:rPr lang="en-US" dirty="0"/>
              <a:t>👉 Income from sale of goods/services.</a:t>
            </a:r>
          </a:p>
          <a:p>
            <a:endParaRPr lang="en-US" dirty="0"/>
          </a:p>
          <a:p>
            <a:r>
              <a:rPr lang="en-US" sz="2000" b="1" dirty="0"/>
              <a:t>🛒 11. Purchase Account</a:t>
            </a:r>
          </a:p>
          <a:p>
            <a:endParaRPr lang="en-US" dirty="0"/>
          </a:p>
          <a:p>
            <a:r>
              <a:rPr lang="en-US" dirty="0"/>
              <a:t>👉 Cost of buying goods for business.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F3F62A-784F-4E7E-B6FB-C7590B884D63}"/>
              </a:ext>
            </a:extLst>
          </p:cNvPr>
          <p:cNvSpPr txBox="1"/>
          <p:nvPr/>
        </p:nvSpPr>
        <p:spPr>
          <a:xfrm>
            <a:off x="6233653" y="474562"/>
            <a:ext cx="525042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📥 12. Direct Income</a:t>
            </a:r>
          </a:p>
          <a:p>
            <a:endParaRPr lang="en-US" dirty="0"/>
          </a:p>
          <a:p>
            <a:r>
              <a:rPr lang="en-US" dirty="0"/>
              <a:t>👉 Income directly related to business activity.</a:t>
            </a:r>
          </a:p>
          <a:p>
            <a:r>
              <a:rPr lang="en-US" dirty="0"/>
              <a:t>(Example: Service income)</a:t>
            </a:r>
          </a:p>
          <a:p>
            <a:endParaRPr lang="en-US" dirty="0"/>
          </a:p>
          <a:p>
            <a:r>
              <a:rPr lang="en-US" sz="2000" b="1" dirty="0"/>
              <a:t>📤 13. Direct Expenses</a:t>
            </a:r>
          </a:p>
          <a:p>
            <a:endParaRPr lang="en-US" dirty="0"/>
          </a:p>
          <a:p>
            <a:r>
              <a:rPr lang="en-US" dirty="0"/>
              <a:t>👉 Expenses directly related to production.</a:t>
            </a:r>
          </a:p>
          <a:p>
            <a:r>
              <a:rPr lang="en-US" dirty="0"/>
              <a:t>(Example: Wages, carriage)</a:t>
            </a:r>
          </a:p>
          <a:p>
            <a:endParaRPr lang="en-US" dirty="0"/>
          </a:p>
          <a:p>
            <a:r>
              <a:rPr lang="en-US" sz="2000" b="1" dirty="0"/>
              <a:t>📥 14. Indirect Income</a:t>
            </a:r>
          </a:p>
          <a:p>
            <a:endParaRPr lang="en-US" dirty="0"/>
          </a:p>
          <a:p>
            <a:r>
              <a:rPr lang="en-US" dirty="0"/>
              <a:t>👉 Income not directly related to main business.</a:t>
            </a:r>
          </a:p>
          <a:p>
            <a:r>
              <a:rPr lang="en-US" dirty="0"/>
              <a:t>(Example: Interest received)</a:t>
            </a:r>
          </a:p>
          <a:p>
            <a:endParaRPr lang="en-US" dirty="0"/>
          </a:p>
          <a:p>
            <a:r>
              <a:rPr lang="en-US" sz="2000" b="1" dirty="0"/>
              <a:t>📤 15. Indirect Expenses</a:t>
            </a:r>
          </a:p>
          <a:p>
            <a:endParaRPr lang="en-US" dirty="0"/>
          </a:p>
          <a:p>
            <a:r>
              <a:rPr lang="en-US" dirty="0"/>
              <a:t>👉 General business expenses.</a:t>
            </a:r>
          </a:p>
          <a:p>
            <a:endParaRPr lang="en-US" dirty="0"/>
          </a:p>
          <a:p>
            <a:r>
              <a:rPr lang="en-US" dirty="0"/>
              <a:t>(Example: Salary, rent, electricity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554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A88552-A458-41C5-B830-329E97194B4E}"/>
              </a:ext>
            </a:extLst>
          </p:cNvPr>
          <p:cNvSpPr txBox="1"/>
          <p:nvPr/>
        </p:nvSpPr>
        <p:spPr>
          <a:xfrm>
            <a:off x="725347" y="1575277"/>
            <a:ext cx="537065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💳 1. Reserve &amp; Surplus (Capital Account)</a:t>
            </a:r>
          </a:p>
          <a:p>
            <a:endParaRPr lang="en-IN" dirty="0"/>
          </a:p>
          <a:p>
            <a:r>
              <a:rPr lang="en-IN" dirty="0"/>
              <a:t>👉 Profits kept in business for future use.</a:t>
            </a:r>
          </a:p>
          <a:p>
            <a:r>
              <a:rPr lang="en-IN" dirty="0"/>
              <a:t>(Example: General reserve)</a:t>
            </a:r>
          </a:p>
          <a:p>
            <a:endParaRPr lang="en-IN" dirty="0"/>
          </a:p>
          <a:p>
            <a:r>
              <a:rPr lang="en-IN" sz="2000" b="1" dirty="0"/>
              <a:t>💳 2. Bank Overdraft (Loans Liabilities)</a:t>
            </a:r>
          </a:p>
          <a:p>
            <a:endParaRPr lang="en-IN" dirty="0"/>
          </a:p>
          <a:p>
            <a:r>
              <a:rPr lang="en-IN" dirty="0"/>
              <a:t>👉 Amount withdrawn from bank more than balance.</a:t>
            </a:r>
          </a:p>
          <a:p>
            <a:endParaRPr lang="en-IN" dirty="0"/>
          </a:p>
          <a:p>
            <a:r>
              <a:rPr lang="en-IN" sz="2000" b="1" dirty="0"/>
              <a:t>🏦 3. Secured Loans (Loans Liabilities)</a:t>
            </a:r>
          </a:p>
          <a:p>
            <a:endParaRPr lang="en-IN" dirty="0"/>
          </a:p>
          <a:p>
            <a:r>
              <a:rPr lang="en-IN" dirty="0"/>
              <a:t>👉 Loans taken against security.</a:t>
            </a:r>
          </a:p>
          <a:p>
            <a:r>
              <a:rPr lang="en-IN" dirty="0"/>
              <a:t>(Example: Loan against property)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221DB8-67D8-4B0A-945B-A64F3EFA321E}"/>
              </a:ext>
            </a:extLst>
          </p:cNvPr>
          <p:cNvSpPr txBox="1"/>
          <p:nvPr/>
        </p:nvSpPr>
        <p:spPr>
          <a:xfrm>
            <a:off x="6506279" y="1575277"/>
            <a:ext cx="543723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📄 4. Unsecured Loans (Loans Liabilities)</a:t>
            </a:r>
          </a:p>
          <a:p>
            <a:endParaRPr lang="en-IN" dirty="0"/>
          </a:p>
          <a:p>
            <a:r>
              <a:rPr lang="en-IN" dirty="0"/>
              <a:t>👉 Loans taken without security.</a:t>
            </a:r>
          </a:p>
          <a:p>
            <a:endParaRPr lang="en-IN" dirty="0"/>
          </a:p>
          <a:p>
            <a:r>
              <a:rPr lang="en-IN" sz="2000" b="1" dirty="0"/>
              <a:t>🧾 5. Duties &amp; Taxes (Current Liabilities)</a:t>
            </a:r>
          </a:p>
          <a:p>
            <a:endParaRPr lang="en-IN" dirty="0"/>
          </a:p>
          <a:p>
            <a:r>
              <a:rPr lang="en-IN" dirty="0"/>
              <a:t>👉 Taxes payable to government.</a:t>
            </a:r>
          </a:p>
          <a:p>
            <a:r>
              <a:rPr lang="en-IN" dirty="0"/>
              <a:t>(Example: GST, VAT)</a:t>
            </a:r>
          </a:p>
          <a:p>
            <a:endParaRPr lang="en-IN" dirty="0"/>
          </a:p>
          <a:p>
            <a:r>
              <a:rPr lang="en-IN" sz="2000" b="1" dirty="0"/>
              <a:t>📊 6. Provision (Current Liabilities)</a:t>
            </a:r>
          </a:p>
          <a:p>
            <a:endParaRPr lang="en-IN" dirty="0"/>
          </a:p>
          <a:p>
            <a:r>
              <a:rPr lang="en-IN" dirty="0"/>
              <a:t>👉 Amount set aside for future expenses/losses.</a:t>
            </a:r>
          </a:p>
          <a:p>
            <a:endParaRPr lang="en-IN" dirty="0"/>
          </a:p>
          <a:p>
            <a:r>
              <a:rPr lang="en-IN" sz="2000" b="1" dirty="0"/>
              <a:t>🤝 7. Sundry Creditors (Current Liabilities)</a:t>
            </a:r>
          </a:p>
          <a:p>
            <a:r>
              <a:rPr lang="en-US" dirty="0"/>
              <a:t>👉 Persons to whom business owes money.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B79F42-4860-4D7C-90F2-EBA866D38BCA}"/>
              </a:ext>
            </a:extLst>
          </p:cNvPr>
          <p:cNvSpPr txBox="1"/>
          <p:nvPr/>
        </p:nvSpPr>
        <p:spPr>
          <a:xfrm>
            <a:off x="3377381" y="727630"/>
            <a:ext cx="543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70C0"/>
                </a:solidFill>
              </a:rPr>
              <a:t>Secondary Groups in Tally </a:t>
            </a:r>
          </a:p>
        </p:txBody>
      </p:sp>
    </p:spTree>
    <p:extLst>
      <p:ext uri="{BB962C8B-B14F-4D97-AF65-F5344CB8AC3E}">
        <p14:creationId xmlns:p14="http://schemas.microsoft.com/office/powerpoint/2010/main" val="1791432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C5BE74-E012-4C4D-8121-ECE6E4E2F540}"/>
              </a:ext>
            </a:extLst>
          </p:cNvPr>
          <p:cNvSpPr txBox="1"/>
          <p:nvPr/>
        </p:nvSpPr>
        <p:spPr>
          <a:xfrm>
            <a:off x="717630" y="1582340"/>
            <a:ext cx="537837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💰 8. Sundry Debtors (Current Assets)</a:t>
            </a:r>
          </a:p>
          <a:p>
            <a:endParaRPr lang="en-US" dirty="0"/>
          </a:p>
          <a:p>
            <a:r>
              <a:rPr lang="en-US" dirty="0"/>
              <a:t>👉 Persons who owe money to business.</a:t>
            </a:r>
          </a:p>
          <a:p>
            <a:endParaRPr lang="en-US" dirty="0"/>
          </a:p>
          <a:p>
            <a:r>
              <a:rPr lang="en-US" sz="2000" b="1" dirty="0"/>
              <a:t>📥 9. Deposit Assets (Current Assets)</a:t>
            </a:r>
          </a:p>
          <a:p>
            <a:endParaRPr lang="en-US" dirty="0"/>
          </a:p>
          <a:p>
            <a:r>
              <a:rPr lang="en-US" dirty="0"/>
              <a:t>👉 Deposits made by business.</a:t>
            </a:r>
          </a:p>
          <a:p>
            <a:r>
              <a:rPr lang="en-US" dirty="0"/>
              <a:t>(Example: Security deposit)</a:t>
            </a:r>
          </a:p>
          <a:p>
            <a:endParaRPr lang="en-US" dirty="0"/>
          </a:p>
          <a:p>
            <a:r>
              <a:rPr lang="en-US" sz="2000" b="1" dirty="0"/>
              <a:t>💵 10. Loans &amp; Advances (Assets) (Current Assets)</a:t>
            </a:r>
          </a:p>
          <a:p>
            <a:endParaRPr lang="en-US" dirty="0"/>
          </a:p>
          <a:p>
            <a:r>
              <a:rPr lang="en-US" dirty="0"/>
              <a:t>👉 Money given to others as loan or advance.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936944-032A-407F-BB26-81DA2B5A5C7D}"/>
              </a:ext>
            </a:extLst>
          </p:cNvPr>
          <p:cNvSpPr txBox="1"/>
          <p:nvPr/>
        </p:nvSpPr>
        <p:spPr>
          <a:xfrm>
            <a:off x="6449962" y="1582340"/>
            <a:ext cx="4827639" cy="3500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💸 11. Cash in Hand (Current Assets)</a:t>
            </a:r>
          </a:p>
          <a:p>
            <a:endParaRPr lang="en-US" dirty="0"/>
          </a:p>
          <a:p>
            <a:r>
              <a:rPr lang="en-US" dirty="0"/>
              <a:t>👉 Physical cash available with business.</a:t>
            </a:r>
          </a:p>
          <a:p>
            <a:endParaRPr lang="en-US" dirty="0"/>
          </a:p>
          <a:p>
            <a:r>
              <a:rPr lang="en-US" sz="2000" b="1" dirty="0"/>
              <a:t>📦 12. Stock in Hand (Current Assets)</a:t>
            </a:r>
          </a:p>
          <a:p>
            <a:endParaRPr lang="en-US" dirty="0"/>
          </a:p>
          <a:p>
            <a:r>
              <a:rPr lang="en-US" dirty="0"/>
              <a:t>👉 Goods available for sale (inventory).</a:t>
            </a:r>
          </a:p>
          <a:p>
            <a:endParaRPr lang="en-US" dirty="0"/>
          </a:p>
          <a:p>
            <a:r>
              <a:rPr lang="en-US" sz="2000" b="1" dirty="0"/>
              <a:t>🏦 13. Bank Account (Current Assets)</a:t>
            </a:r>
          </a:p>
          <a:p>
            <a:endParaRPr lang="en-US" dirty="0"/>
          </a:p>
          <a:p>
            <a:r>
              <a:rPr lang="en-US" dirty="0"/>
              <a:t>👉 Money deposited in bank account.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6278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4A3E7C-05DD-405E-9D54-6776E82D1DC8}"/>
              </a:ext>
            </a:extLst>
          </p:cNvPr>
          <p:cNvSpPr txBox="1"/>
          <p:nvPr/>
        </p:nvSpPr>
        <p:spPr>
          <a:xfrm>
            <a:off x="1099595" y="509286"/>
            <a:ext cx="9236597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What is a Voucher in Tally?</a:t>
            </a:r>
          </a:p>
          <a:p>
            <a:endParaRPr lang="en-US" b="1" dirty="0"/>
          </a:p>
          <a:p>
            <a:r>
              <a:rPr lang="en-US" dirty="0"/>
              <a:t>In Tally, a Voucher is a document used to record financial transactions.</a:t>
            </a:r>
          </a:p>
          <a:p>
            <a:endParaRPr lang="en-US" dirty="0"/>
          </a:p>
          <a:p>
            <a:r>
              <a:rPr lang="en-US" dirty="0"/>
              <a:t>👉 Every transaction (payment, receipt, sale, purchase) is entered using vouchers.</a:t>
            </a:r>
          </a:p>
          <a:p>
            <a:endParaRPr lang="en-US" dirty="0"/>
          </a:p>
          <a:p>
            <a:r>
              <a:rPr lang="en-US" dirty="0"/>
              <a:t>Types of Vouchers in Tally</a:t>
            </a:r>
          </a:p>
          <a:p>
            <a:endParaRPr lang="en-US" dirty="0"/>
          </a:p>
          <a:p>
            <a:r>
              <a:rPr lang="en-US" dirty="0"/>
              <a:t>👉 There are mainly two types:</a:t>
            </a:r>
          </a:p>
          <a:p>
            <a:endParaRPr lang="en-US" dirty="0"/>
          </a:p>
          <a:p>
            <a:r>
              <a:rPr lang="en-US" dirty="0"/>
              <a:t>Common Vouchers (used daily)</a:t>
            </a:r>
          </a:p>
          <a:p>
            <a:r>
              <a:rPr lang="en-US" dirty="0"/>
              <a:t>Special Vouchers (used for special purposes)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334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1F0F0C-ECBA-4E1D-96AF-06501A56FE95}"/>
              </a:ext>
            </a:extLst>
          </p:cNvPr>
          <p:cNvSpPr txBox="1"/>
          <p:nvPr/>
        </p:nvSpPr>
        <p:spPr>
          <a:xfrm>
            <a:off x="1946787" y="397401"/>
            <a:ext cx="7561006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Common Vouchers</a:t>
            </a:r>
            <a:endParaRPr lang="en-US" sz="2800" dirty="0">
              <a:solidFill>
                <a:srgbClr val="0070C0"/>
              </a:solidFill>
            </a:endParaRPr>
          </a:p>
          <a:p>
            <a:r>
              <a:rPr lang="en-US" dirty="0"/>
              <a:t>👉 These are the most important vouchers used in daily accounting.</a:t>
            </a:r>
          </a:p>
          <a:p>
            <a:endParaRPr lang="en-US" dirty="0"/>
          </a:p>
          <a:p>
            <a:r>
              <a:rPr lang="en-US" b="1" dirty="0"/>
              <a:t>💸 1. Contra Voucher (F4)</a:t>
            </a:r>
          </a:p>
          <a:p>
            <a:endParaRPr lang="en-US" dirty="0"/>
          </a:p>
          <a:p>
            <a:r>
              <a:rPr lang="en-US" dirty="0"/>
              <a:t>👉 Used for cash and bank transactions within business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endParaRPr lang="en-US" dirty="0"/>
          </a:p>
          <a:p>
            <a:r>
              <a:rPr lang="en-US" dirty="0"/>
              <a:t>Cash deposited into bank</a:t>
            </a:r>
          </a:p>
          <a:p>
            <a:r>
              <a:rPr lang="en-US" dirty="0"/>
              <a:t>Cash withdrawn from bank</a:t>
            </a:r>
          </a:p>
          <a:p>
            <a:endParaRPr lang="en-US" dirty="0"/>
          </a:p>
          <a:p>
            <a:r>
              <a:rPr lang="en-US" b="1" dirty="0"/>
              <a:t>💵 2. Payment Voucher (F5)</a:t>
            </a:r>
          </a:p>
          <a:p>
            <a:endParaRPr lang="en-US" dirty="0"/>
          </a:p>
          <a:p>
            <a:r>
              <a:rPr lang="en-US" dirty="0"/>
              <a:t>👉 Used when money is paid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endParaRPr lang="en-US" dirty="0"/>
          </a:p>
          <a:p>
            <a:r>
              <a:rPr lang="en-US" dirty="0"/>
              <a:t>Salary paid</a:t>
            </a:r>
          </a:p>
          <a:p>
            <a:r>
              <a:rPr lang="en-US" dirty="0"/>
              <a:t>Rent paid</a:t>
            </a:r>
          </a:p>
          <a:p>
            <a:r>
              <a:rPr lang="en-US" dirty="0"/>
              <a:t>Electricity bill paid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6106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93A1DA-6886-4D57-9846-CB41D9549A3C}"/>
              </a:ext>
            </a:extLst>
          </p:cNvPr>
          <p:cNvSpPr txBox="1"/>
          <p:nvPr/>
        </p:nvSpPr>
        <p:spPr>
          <a:xfrm>
            <a:off x="1639366" y="699585"/>
            <a:ext cx="692453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💰 3. Receipt Voucher (F6)</a:t>
            </a:r>
          </a:p>
          <a:p>
            <a:endParaRPr lang="en-US" dirty="0"/>
          </a:p>
          <a:p>
            <a:r>
              <a:rPr lang="en-US" dirty="0"/>
              <a:t>👉 Used when money is received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endParaRPr lang="en-US" dirty="0"/>
          </a:p>
          <a:p>
            <a:r>
              <a:rPr lang="en-US" dirty="0"/>
              <a:t>Cash received from customer</a:t>
            </a:r>
          </a:p>
          <a:p>
            <a:r>
              <a:rPr lang="en-US" dirty="0"/>
              <a:t>Income received</a:t>
            </a:r>
          </a:p>
          <a:p>
            <a:endParaRPr lang="en-US" dirty="0"/>
          </a:p>
          <a:p>
            <a:r>
              <a:rPr lang="en-US" b="1" dirty="0"/>
              <a:t>💰 4. Journal Voucher (F7)</a:t>
            </a:r>
          </a:p>
          <a:p>
            <a:endParaRPr lang="en-US" dirty="0"/>
          </a:p>
          <a:p>
            <a:r>
              <a:rPr lang="en-US" dirty="0"/>
              <a:t>👉 Used for adjustments and non-cash transactions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endParaRPr lang="en-US" dirty="0"/>
          </a:p>
          <a:p>
            <a:r>
              <a:rPr lang="en-US" dirty="0"/>
              <a:t>Depreciation</a:t>
            </a:r>
          </a:p>
          <a:p>
            <a:r>
              <a:rPr lang="en-US" dirty="0"/>
              <a:t>Outstanding expenses</a:t>
            </a:r>
          </a:p>
          <a:p>
            <a:r>
              <a:rPr lang="en-US" dirty="0"/>
              <a:t>Transfer entries</a:t>
            </a:r>
          </a:p>
        </p:txBody>
      </p:sp>
    </p:spTree>
    <p:extLst>
      <p:ext uri="{BB962C8B-B14F-4D97-AF65-F5344CB8AC3E}">
        <p14:creationId xmlns:p14="http://schemas.microsoft.com/office/powerpoint/2010/main" val="4165501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BC6356-90CD-4D5D-888C-0FB3489CD97F}"/>
              </a:ext>
            </a:extLst>
          </p:cNvPr>
          <p:cNvSpPr txBox="1"/>
          <p:nvPr/>
        </p:nvSpPr>
        <p:spPr>
          <a:xfrm>
            <a:off x="1069600" y="1268361"/>
            <a:ext cx="475109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🛒 5. Purchase Voucher (F9)</a:t>
            </a:r>
          </a:p>
          <a:p>
            <a:endParaRPr lang="en-US" sz="2000" dirty="0"/>
          </a:p>
          <a:p>
            <a:r>
              <a:rPr lang="en-US" sz="2000" dirty="0"/>
              <a:t>👉 Used when goods are purchased</a:t>
            </a:r>
          </a:p>
          <a:p>
            <a:endParaRPr lang="en-US" sz="2000" dirty="0"/>
          </a:p>
          <a:p>
            <a:r>
              <a:rPr lang="en-US" sz="2000" dirty="0"/>
              <a:t>Examples:</a:t>
            </a:r>
          </a:p>
          <a:p>
            <a:endParaRPr lang="en-US" sz="2000" dirty="0"/>
          </a:p>
          <a:p>
            <a:r>
              <a:rPr lang="en-US" sz="2000" dirty="0"/>
              <a:t>Buying goods for business</a:t>
            </a:r>
          </a:p>
          <a:p>
            <a:endParaRPr lang="en-US" sz="2000" dirty="0"/>
          </a:p>
          <a:p>
            <a:r>
              <a:rPr lang="en-US" sz="2000" b="1" dirty="0"/>
              <a:t>💼 6. Sales Voucher (F8)</a:t>
            </a:r>
          </a:p>
          <a:p>
            <a:endParaRPr lang="en-US" sz="2000" dirty="0"/>
          </a:p>
          <a:p>
            <a:r>
              <a:rPr lang="en-US" sz="2000" dirty="0"/>
              <a:t>👉 Used when goods are sold</a:t>
            </a:r>
          </a:p>
          <a:p>
            <a:endParaRPr lang="en-US" sz="2000" dirty="0"/>
          </a:p>
          <a:p>
            <a:r>
              <a:rPr lang="en-US" sz="2000" dirty="0"/>
              <a:t>Examples:</a:t>
            </a:r>
          </a:p>
          <a:p>
            <a:endParaRPr lang="en-US" sz="2000" dirty="0"/>
          </a:p>
          <a:p>
            <a:r>
              <a:rPr lang="en-US" sz="2000" dirty="0"/>
              <a:t>Selling goods to customers</a:t>
            </a:r>
          </a:p>
          <a:p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0812BC-606F-4159-B628-8D99A56E4F32}"/>
              </a:ext>
            </a:extLst>
          </p:cNvPr>
          <p:cNvSpPr txBox="1"/>
          <p:nvPr/>
        </p:nvSpPr>
        <p:spPr>
          <a:xfrm>
            <a:off x="6560232" y="1392136"/>
            <a:ext cx="456216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🔻 7. Debit Note (Ctrl + F9)</a:t>
            </a:r>
          </a:p>
          <a:p>
            <a:endParaRPr lang="en-US" sz="2000" dirty="0"/>
          </a:p>
          <a:p>
            <a:r>
              <a:rPr lang="en-US" sz="2000" dirty="0"/>
              <a:t>👉 Used when purchase return happens</a:t>
            </a:r>
          </a:p>
          <a:p>
            <a:endParaRPr lang="en-US" sz="2000" dirty="0"/>
          </a:p>
          <a:p>
            <a:r>
              <a:rPr lang="en-US" sz="2000" dirty="0"/>
              <a:t>Example:</a:t>
            </a:r>
          </a:p>
          <a:p>
            <a:endParaRPr lang="en-US" sz="2000" dirty="0"/>
          </a:p>
          <a:p>
            <a:r>
              <a:rPr lang="en-US" sz="2000" dirty="0"/>
              <a:t>Goods returned to supplier</a:t>
            </a:r>
          </a:p>
          <a:p>
            <a:endParaRPr lang="en-US" sz="2000" dirty="0"/>
          </a:p>
          <a:p>
            <a:r>
              <a:rPr lang="en-US" sz="2000" b="1" dirty="0"/>
              <a:t>🔺 8. Credit Note (Ctrl + F8)</a:t>
            </a:r>
          </a:p>
          <a:p>
            <a:endParaRPr lang="en-US" sz="2000" dirty="0"/>
          </a:p>
          <a:p>
            <a:r>
              <a:rPr lang="en-US" sz="2000" dirty="0"/>
              <a:t>👉 Used when sales return happens</a:t>
            </a:r>
          </a:p>
          <a:p>
            <a:endParaRPr lang="en-US" sz="2000" dirty="0"/>
          </a:p>
          <a:p>
            <a:r>
              <a:rPr lang="en-US" sz="2000" dirty="0"/>
              <a:t>Example:</a:t>
            </a:r>
          </a:p>
          <a:p>
            <a:endParaRPr lang="en-US" sz="2000" dirty="0"/>
          </a:p>
          <a:p>
            <a:r>
              <a:rPr lang="en-US" sz="2000" dirty="0"/>
              <a:t>Customer returns goods</a:t>
            </a:r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79100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E7F16E-2992-4F3C-A5AD-865A13C1BC3D}"/>
              </a:ext>
            </a:extLst>
          </p:cNvPr>
          <p:cNvSpPr txBox="1"/>
          <p:nvPr/>
        </p:nvSpPr>
        <p:spPr>
          <a:xfrm>
            <a:off x="1327603" y="1546901"/>
            <a:ext cx="1018572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Mr. Rohit started Universal Business Solutions by bringing in cash of ₹3,00,000.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Mr. Rohit purchased a computer in cash ₹18,000.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Mr. Rohit purchased an office table ₹3,500 and office chair ₹4,000 in cash.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Mr. Rohit opened a bank account in HDFC Bank by depositing cash ₹50,000.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Mr. Rohit purchased stationery items in cash ₹2,000.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Mr. Rohit purchased a mobile phone ₹5,000 from Raj Telecom on credit.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Mr. Rohit withdrew ₹10,000 from HDFC Bank.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Mr. Rohit paid cash ₹5,000 to Raj Telecom.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Mr. Rohit received a bill of ₹4,500 from </a:t>
            </a:r>
            <a:r>
              <a:rPr lang="en-IN" sz="2000" dirty="0" err="1"/>
              <a:t>Sukun</a:t>
            </a:r>
            <a:r>
              <a:rPr lang="en-IN" sz="2000" dirty="0"/>
              <a:t> Offset for printing office stationery.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Mr. Rohit paid ₹2,800 by cheque towards office rent.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Mr. Rohit paid ₹700 in cash towards electricity charges.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Mr. Rohit issued a cheque of ₹4,500 to </a:t>
            </a:r>
            <a:r>
              <a:rPr lang="en-IN" sz="2000" dirty="0" err="1"/>
              <a:t>Sukun</a:t>
            </a:r>
            <a:r>
              <a:rPr lang="en-IN" sz="2000" dirty="0"/>
              <a:t> Offset.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Mr. Rohit withdrew ₹4,000 from HDFC Bank for personal use.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4CB836-9FE6-4B7A-A909-29A30B122E8D}"/>
              </a:ext>
            </a:extLst>
          </p:cNvPr>
          <p:cNvSpPr txBox="1"/>
          <p:nvPr/>
        </p:nvSpPr>
        <p:spPr>
          <a:xfrm>
            <a:off x="1700980" y="648284"/>
            <a:ext cx="81214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Practice Question Debit, Credit, Ledger, Under, Voucher</a:t>
            </a:r>
            <a:endParaRPr lang="en-IN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8128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3ECA50-9AF0-49C9-8BEE-A22E2BB506E0}"/>
              </a:ext>
            </a:extLst>
          </p:cNvPr>
          <p:cNvSpPr txBox="1"/>
          <p:nvPr/>
        </p:nvSpPr>
        <p:spPr>
          <a:xfrm>
            <a:off x="609974" y="708793"/>
            <a:ext cx="434548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1. Started business with cash ₹3,00,000</a:t>
            </a:r>
          </a:p>
          <a:p>
            <a:r>
              <a:rPr lang="en-US" sz="2000" dirty="0"/>
              <a:t>Cash A/c → Debit (Current Asset)</a:t>
            </a:r>
          </a:p>
          <a:p>
            <a:r>
              <a:rPr lang="en-US" sz="2000" dirty="0"/>
              <a:t>Capital A/c → Credit (Capital Account)</a:t>
            </a:r>
          </a:p>
          <a:p>
            <a:r>
              <a:rPr lang="en-US" sz="2000" dirty="0"/>
              <a:t>Voucher → Journal (F7)</a:t>
            </a:r>
          </a:p>
          <a:p>
            <a:r>
              <a:rPr lang="en-US" sz="2000" dirty="0"/>
              <a:t>Cash A/c Dr 3,00,000  </a:t>
            </a:r>
          </a:p>
          <a:p>
            <a:r>
              <a:rPr lang="en-US" sz="2000" dirty="0"/>
              <a:t>   To Capital A/c 3,00,000</a:t>
            </a:r>
          </a:p>
          <a:p>
            <a:endParaRPr lang="en-US" sz="2000" dirty="0"/>
          </a:p>
          <a:p>
            <a:r>
              <a:rPr lang="en-US" sz="2000" b="1" dirty="0"/>
              <a:t>2. Purchased computer in cash ₹18,000</a:t>
            </a:r>
          </a:p>
          <a:p>
            <a:endParaRPr lang="en-US" sz="2000" b="1" dirty="0"/>
          </a:p>
          <a:p>
            <a:r>
              <a:rPr lang="en-US" sz="2000" dirty="0"/>
              <a:t>Computer A/c → Debit (Fixed Asset)</a:t>
            </a:r>
          </a:p>
          <a:p>
            <a:r>
              <a:rPr lang="en-US" sz="2000" dirty="0"/>
              <a:t>Cash A/c → Credit (Current Asset)</a:t>
            </a:r>
          </a:p>
          <a:p>
            <a:r>
              <a:rPr lang="en-US" sz="2000" dirty="0"/>
              <a:t>Voucher → Payment (F5)</a:t>
            </a:r>
          </a:p>
          <a:p>
            <a:r>
              <a:rPr lang="en-US" sz="2000" dirty="0"/>
              <a:t>Computer A/c Dr 18,000  </a:t>
            </a:r>
          </a:p>
          <a:p>
            <a:r>
              <a:rPr lang="en-US" sz="2000" dirty="0"/>
              <a:t>   To Cash A/c 18,000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C9083F-493B-4B75-AD4E-1FD401FC79D0}"/>
              </a:ext>
            </a:extLst>
          </p:cNvPr>
          <p:cNvSpPr txBox="1"/>
          <p:nvPr/>
        </p:nvSpPr>
        <p:spPr>
          <a:xfrm>
            <a:off x="5417574" y="708793"/>
            <a:ext cx="473914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3. Purchased table &amp; chair ₹7,500</a:t>
            </a:r>
          </a:p>
          <a:p>
            <a:r>
              <a:rPr lang="en-US" sz="2000" dirty="0"/>
              <a:t>Furniture A/c → Debit (Fixed Asset)</a:t>
            </a:r>
          </a:p>
          <a:p>
            <a:r>
              <a:rPr lang="en-US" sz="2000" dirty="0"/>
              <a:t>Cash A/c → Credit</a:t>
            </a:r>
          </a:p>
          <a:p>
            <a:r>
              <a:rPr lang="en-US" sz="2000" dirty="0"/>
              <a:t>Voucher → Payment (F5)</a:t>
            </a:r>
          </a:p>
          <a:p>
            <a:r>
              <a:rPr lang="en-US" sz="2000" dirty="0"/>
              <a:t>Furniture A/c Dr 7,500  </a:t>
            </a:r>
          </a:p>
          <a:p>
            <a:r>
              <a:rPr lang="en-US" sz="2000" dirty="0"/>
              <a:t>   To Cash A/c 7,500</a:t>
            </a:r>
            <a:endParaRPr lang="en-IN" sz="2000" dirty="0"/>
          </a:p>
          <a:p>
            <a:endParaRPr lang="en-US" sz="2000" dirty="0"/>
          </a:p>
          <a:p>
            <a:r>
              <a:rPr lang="en-IN" sz="2000" b="1" dirty="0"/>
              <a:t>4. Deposited cash into bank ₹50,000</a:t>
            </a:r>
          </a:p>
          <a:p>
            <a:r>
              <a:rPr lang="en-IN" sz="2000" dirty="0"/>
              <a:t>Bank A/c → Debit (Bank Account)</a:t>
            </a:r>
          </a:p>
          <a:p>
            <a:r>
              <a:rPr lang="en-IN" sz="2000" dirty="0"/>
              <a:t>Cash A/c → Credit</a:t>
            </a:r>
          </a:p>
          <a:p>
            <a:r>
              <a:rPr lang="en-IN" sz="2000" dirty="0"/>
              <a:t>Voucher → Contra (F4)</a:t>
            </a:r>
          </a:p>
          <a:p>
            <a:r>
              <a:rPr lang="en-IN" sz="2000" dirty="0"/>
              <a:t>Bank A/c Dr 50,000  </a:t>
            </a:r>
          </a:p>
          <a:p>
            <a:r>
              <a:rPr lang="en-IN" sz="2000" dirty="0"/>
              <a:t>   To Cash A/c 50,000</a:t>
            </a:r>
          </a:p>
        </p:txBody>
      </p:sp>
    </p:spTree>
    <p:extLst>
      <p:ext uri="{BB962C8B-B14F-4D97-AF65-F5344CB8AC3E}">
        <p14:creationId xmlns:p14="http://schemas.microsoft.com/office/powerpoint/2010/main" val="17887238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E46C04-5547-4FDE-B241-C33662AEDDBF}"/>
              </a:ext>
            </a:extLst>
          </p:cNvPr>
          <p:cNvSpPr txBox="1"/>
          <p:nvPr/>
        </p:nvSpPr>
        <p:spPr>
          <a:xfrm>
            <a:off x="1030148" y="586700"/>
            <a:ext cx="427927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5. Purchased stationery ₹2,000</a:t>
            </a:r>
          </a:p>
          <a:p>
            <a:r>
              <a:rPr lang="en-IN" sz="2000" dirty="0"/>
              <a:t>Stationery A/c → Debit (Indirect Expenses)</a:t>
            </a:r>
          </a:p>
          <a:p>
            <a:r>
              <a:rPr lang="en-IN" sz="2000" dirty="0"/>
              <a:t>Cash A/c → Credit</a:t>
            </a:r>
          </a:p>
          <a:p>
            <a:r>
              <a:rPr lang="en-IN" sz="2000" dirty="0"/>
              <a:t>Voucher → Payment (F5)</a:t>
            </a:r>
          </a:p>
          <a:p>
            <a:r>
              <a:rPr lang="en-IN" sz="2000" dirty="0"/>
              <a:t>Stationery A/c Dr 2,000  </a:t>
            </a:r>
          </a:p>
          <a:p>
            <a:r>
              <a:rPr lang="en-IN" sz="2000" dirty="0"/>
              <a:t>   To Cash A/c 2,000</a:t>
            </a:r>
          </a:p>
          <a:p>
            <a:endParaRPr lang="en-IN" sz="2000" dirty="0"/>
          </a:p>
          <a:p>
            <a:r>
              <a:rPr lang="en-IN" sz="2000" b="1" dirty="0"/>
              <a:t>6. Purchased mobile on credit ₹5,000</a:t>
            </a:r>
          </a:p>
          <a:p>
            <a:r>
              <a:rPr lang="en-IN" sz="2000" dirty="0"/>
              <a:t>Mobile A/c → Debit (Fixed Asset)</a:t>
            </a:r>
          </a:p>
          <a:p>
            <a:r>
              <a:rPr lang="en-IN" sz="2000" dirty="0"/>
              <a:t>Raj Telecom A/c → Credit (Sundry Creditors)</a:t>
            </a:r>
          </a:p>
          <a:p>
            <a:r>
              <a:rPr lang="en-IN" sz="2000" dirty="0"/>
              <a:t>Voucher → Purchase (F9)</a:t>
            </a:r>
          </a:p>
          <a:p>
            <a:r>
              <a:rPr lang="en-IN" sz="2000" dirty="0"/>
              <a:t>Mobile A/c Dr 5,000  </a:t>
            </a:r>
          </a:p>
          <a:p>
            <a:r>
              <a:rPr lang="en-IN" sz="2000" dirty="0"/>
              <a:t>   To Raj Telecom A/c 5,000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4FCFCF-150C-4B5C-AA27-11579746C61F}"/>
              </a:ext>
            </a:extLst>
          </p:cNvPr>
          <p:cNvSpPr txBox="1"/>
          <p:nvPr/>
        </p:nvSpPr>
        <p:spPr>
          <a:xfrm>
            <a:off x="5820698" y="586700"/>
            <a:ext cx="501445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7. Withdraw cash from bank ₹10,000</a:t>
            </a:r>
          </a:p>
          <a:p>
            <a:r>
              <a:rPr lang="en-IN" sz="2000" dirty="0"/>
              <a:t>Cash A/c → Debit</a:t>
            </a:r>
          </a:p>
          <a:p>
            <a:r>
              <a:rPr lang="en-IN" sz="2000" dirty="0"/>
              <a:t>Bank A/c → Credit</a:t>
            </a:r>
          </a:p>
          <a:p>
            <a:r>
              <a:rPr lang="en-IN" sz="2000" dirty="0"/>
              <a:t>Voucher → Contra (F4)</a:t>
            </a:r>
          </a:p>
          <a:p>
            <a:r>
              <a:rPr lang="en-IN" sz="2000" dirty="0"/>
              <a:t>Cash A/c Dr 10,000  </a:t>
            </a:r>
          </a:p>
          <a:p>
            <a:r>
              <a:rPr lang="en-IN" sz="2000" dirty="0"/>
              <a:t>   To Bank A/c 10,000</a:t>
            </a:r>
          </a:p>
          <a:p>
            <a:endParaRPr lang="en-IN" sz="2000" dirty="0"/>
          </a:p>
          <a:p>
            <a:r>
              <a:rPr lang="en-IN" sz="2000" b="1" dirty="0"/>
              <a:t>8. Paid cash to Raj Telecom ₹5,000</a:t>
            </a:r>
          </a:p>
          <a:p>
            <a:r>
              <a:rPr lang="en-IN" sz="2000" dirty="0"/>
              <a:t>Raj Telecom A/c → Debit (Sundry Creditors)</a:t>
            </a:r>
          </a:p>
          <a:p>
            <a:r>
              <a:rPr lang="en-IN" sz="2000" dirty="0"/>
              <a:t>Cash A/c → Credit</a:t>
            </a:r>
          </a:p>
          <a:p>
            <a:r>
              <a:rPr lang="en-IN" sz="2000" dirty="0"/>
              <a:t>Voucher → Payment (F5)</a:t>
            </a:r>
          </a:p>
          <a:p>
            <a:r>
              <a:rPr lang="en-IN" sz="2000" dirty="0"/>
              <a:t>Raj Telecom A/c Dr 5,000  </a:t>
            </a:r>
          </a:p>
          <a:p>
            <a:r>
              <a:rPr lang="en-IN" sz="2000" dirty="0"/>
              <a:t>   To Cash A/c 5,000</a:t>
            </a:r>
          </a:p>
        </p:txBody>
      </p:sp>
    </p:spTree>
    <p:extLst>
      <p:ext uri="{BB962C8B-B14F-4D97-AF65-F5344CB8AC3E}">
        <p14:creationId xmlns:p14="http://schemas.microsoft.com/office/powerpoint/2010/main" val="22658326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09A6FE-9890-4A6E-8EA1-4B1949194432}"/>
              </a:ext>
            </a:extLst>
          </p:cNvPr>
          <p:cNvSpPr txBox="1"/>
          <p:nvPr/>
        </p:nvSpPr>
        <p:spPr>
          <a:xfrm>
            <a:off x="2143432" y="612844"/>
            <a:ext cx="77478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9. Received bill from </a:t>
            </a:r>
            <a:r>
              <a:rPr lang="en-IN" sz="2400" b="1" dirty="0" err="1"/>
              <a:t>Sukun</a:t>
            </a:r>
            <a:r>
              <a:rPr lang="en-IN" sz="2400" b="1" dirty="0"/>
              <a:t> Offset ₹4,500</a:t>
            </a:r>
          </a:p>
          <a:p>
            <a:r>
              <a:rPr lang="en-IN" sz="2400" dirty="0"/>
              <a:t>Printing/Stationery A/c → Debit (Indirect Expenses)</a:t>
            </a:r>
          </a:p>
          <a:p>
            <a:r>
              <a:rPr lang="en-IN" sz="2400" dirty="0" err="1"/>
              <a:t>Sukun</a:t>
            </a:r>
            <a:r>
              <a:rPr lang="en-IN" sz="2400" dirty="0"/>
              <a:t> Offset A/c → Credit (Sundry Creditors)</a:t>
            </a:r>
          </a:p>
          <a:p>
            <a:r>
              <a:rPr lang="en-IN" sz="2400" dirty="0"/>
              <a:t>Voucher → Purchase (F9) / Journal (F7)</a:t>
            </a:r>
          </a:p>
          <a:p>
            <a:r>
              <a:rPr lang="en-IN" sz="2400" dirty="0"/>
              <a:t>Printing A/c Dr 4,500  </a:t>
            </a:r>
          </a:p>
          <a:p>
            <a:r>
              <a:rPr lang="en-IN" sz="2400" dirty="0"/>
              <a:t>   To </a:t>
            </a:r>
            <a:r>
              <a:rPr lang="en-IN" sz="2400" dirty="0" err="1"/>
              <a:t>Sukun</a:t>
            </a:r>
            <a:r>
              <a:rPr lang="en-IN" sz="2400" dirty="0"/>
              <a:t> Offset A/c 4,500</a:t>
            </a:r>
          </a:p>
          <a:p>
            <a:endParaRPr lang="en-US" sz="2400" dirty="0"/>
          </a:p>
          <a:p>
            <a:r>
              <a:rPr lang="en-IN" sz="2400" b="1" dirty="0"/>
              <a:t>10. Paid rent by cheque ₹2,800</a:t>
            </a:r>
          </a:p>
          <a:p>
            <a:r>
              <a:rPr lang="en-IN" sz="2400" dirty="0"/>
              <a:t>Rent A/c → Debit (Indirect Expenses)</a:t>
            </a:r>
          </a:p>
          <a:p>
            <a:r>
              <a:rPr lang="en-IN" sz="2400" dirty="0"/>
              <a:t>Bank A/c → Credit</a:t>
            </a:r>
          </a:p>
          <a:p>
            <a:r>
              <a:rPr lang="en-IN" sz="2400" dirty="0"/>
              <a:t>Voucher → Payment (F5)</a:t>
            </a:r>
          </a:p>
          <a:p>
            <a:r>
              <a:rPr lang="en-IN" sz="2400" dirty="0"/>
              <a:t>Rent A/c Dr 2,800  </a:t>
            </a:r>
          </a:p>
          <a:p>
            <a:r>
              <a:rPr lang="en-IN" sz="2400" dirty="0"/>
              <a:t>   To Bank A/c 2,800</a:t>
            </a:r>
          </a:p>
        </p:txBody>
      </p:sp>
    </p:spTree>
    <p:extLst>
      <p:ext uri="{BB962C8B-B14F-4D97-AF65-F5344CB8AC3E}">
        <p14:creationId xmlns:p14="http://schemas.microsoft.com/office/powerpoint/2010/main" val="35024700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1BB548-27BB-4C7F-95F0-EDCF15A577FD}"/>
              </a:ext>
            </a:extLst>
          </p:cNvPr>
          <p:cNvSpPr txBox="1"/>
          <p:nvPr/>
        </p:nvSpPr>
        <p:spPr>
          <a:xfrm>
            <a:off x="544010" y="567159"/>
            <a:ext cx="465725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11. Paid electricity ₹700</a:t>
            </a:r>
          </a:p>
          <a:p>
            <a:r>
              <a:rPr lang="en-IN" sz="2400" dirty="0"/>
              <a:t>Electricity A/c → Debit (Indirect Expenses)</a:t>
            </a:r>
          </a:p>
          <a:p>
            <a:r>
              <a:rPr lang="en-IN" sz="2400" dirty="0"/>
              <a:t>Cash A/c → Credit</a:t>
            </a:r>
          </a:p>
          <a:p>
            <a:r>
              <a:rPr lang="en-IN" sz="2400" dirty="0"/>
              <a:t>Voucher → Payment (F5)</a:t>
            </a:r>
          </a:p>
          <a:p>
            <a:r>
              <a:rPr lang="en-IN" sz="2400" dirty="0"/>
              <a:t>Electricity A/c Dr 700  </a:t>
            </a:r>
          </a:p>
          <a:p>
            <a:r>
              <a:rPr lang="en-IN" sz="2400" dirty="0"/>
              <a:t>   To Cash A/c 700</a:t>
            </a:r>
          </a:p>
          <a:p>
            <a:endParaRPr lang="en-IN" sz="2400" dirty="0"/>
          </a:p>
          <a:p>
            <a:r>
              <a:rPr lang="en-IN" sz="2400" b="1" dirty="0"/>
              <a:t>12. Issued cheque to </a:t>
            </a:r>
            <a:r>
              <a:rPr lang="en-IN" sz="2400" b="1" dirty="0" err="1"/>
              <a:t>Sukun</a:t>
            </a:r>
            <a:r>
              <a:rPr lang="en-IN" sz="2400" b="1" dirty="0"/>
              <a:t> Offset ₹4,500</a:t>
            </a:r>
          </a:p>
          <a:p>
            <a:r>
              <a:rPr lang="en-IN" sz="2400" dirty="0" err="1"/>
              <a:t>Sukun</a:t>
            </a:r>
            <a:r>
              <a:rPr lang="en-IN" sz="2400" dirty="0"/>
              <a:t> Offset A/c → Debit (Sundry Creditors)</a:t>
            </a:r>
          </a:p>
          <a:p>
            <a:r>
              <a:rPr lang="en-IN" sz="2400" dirty="0"/>
              <a:t>Bank A/c → Credit</a:t>
            </a:r>
          </a:p>
          <a:p>
            <a:r>
              <a:rPr lang="en-IN" sz="2400" dirty="0"/>
              <a:t>Voucher → Payment (F5)</a:t>
            </a:r>
          </a:p>
          <a:p>
            <a:r>
              <a:rPr lang="en-IN" sz="2400" dirty="0" err="1"/>
              <a:t>Sukun</a:t>
            </a:r>
            <a:r>
              <a:rPr lang="en-IN" sz="2400" dirty="0"/>
              <a:t> Offset A/c Dr 4,500  </a:t>
            </a:r>
          </a:p>
          <a:p>
            <a:r>
              <a:rPr lang="en-IN" sz="2400" dirty="0"/>
              <a:t>   To Bank A/c 4,500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BAE26F-4591-4489-8CD9-3A29947C0F16}"/>
              </a:ext>
            </a:extLst>
          </p:cNvPr>
          <p:cNvSpPr txBox="1"/>
          <p:nvPr/>
        </p:nvSpPr>
        <p:spPr>
          <a:xfrm>
            <a:off x="5791199" y="567159"/>
            <a:ext cx="55060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13. Withdraw for personal use ₹4,000</a:t>
            </a:r>
          </a:p>
          <a:p>
            <a:r>
              <a:rPr lang="en-IN" sz="2400" dirty="0"/>
              <a:t>Drawings A/c → Debit (Capital Account)</a:t>
            </a:r>
          </a:p>
          <a:p>
            <a:r>
              <a:rPr lang="en-IN" sz="2400" dirty="0"/>
              <a:t>Bank A/c → Credit</a:t>
            </a:r>
          </a:p>
          <a:p>
            <a:r>
              <a:rPr lang="en-IN" sz="2400" dirty="0"/>
              <a:t>Voucher → Payment (F5)</a:t>
            </a:r>
          </a:p>
          <a:p>
            <a:r>
              <a:rPr lang="en-IN" sz="2400" dirty="0"/>
              <a:t>Drawings A/c Dr 4,000  </a:t>
            </a:r>
          </a:p>
          <a:p>
            <a:r>
              <a:rPr lang="en-IN" sz="2400" dirty="0"/>
              <a:t>   To Bank A/c 4,000</a:t>
            </a:r>
          </a:p>
        </p:txBody>
      </p:sp>
    </p:spTree>
    <p:extLst>
      <p:ext uri="{BB962C8B-B14F-4D97-AF65-F5344CB8AC3E}">
        <p14:creationId xmlns:p14="http://schemas.microsoft.com/office/powerpoint/2010/main" val="24369864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316</TotalTime>
  <Words>2725</Words>
  <Application>Microsoft Office PowerPoint</Application>
  <PresentationFormat>Widescreen</PresentationFormat>
  <Paragraphs>587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Wingdings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29</cp:revision>
  <dcterms:created xsi:type="dcterms:W3CDTF">2026-04-01T00:40:45Z</dcterms:created>
  <dcterms:modified xsi:type="dcterms:W3CDTF">2026-04-01T11:53:27Z</dcterms:modified>
</cp:coreProperties>
</file>