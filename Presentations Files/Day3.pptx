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7" r:id="rId4"/>
    <p:sldId id="262" r:id="rId5"/>
    <p:sldId id="265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2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98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0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94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0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4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1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5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4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61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3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5097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126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378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233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613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6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45B10-2123-4E14-879F-26AED869B83E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23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8E59F-37FF-4755-9D8F-360AA931E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C1C4A-E483-40EB-8735-2D6A1F1CB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59742" cy="578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384DA-6BF3-451C-A120-CB8EF9CD5DF2}"/>
              </a:ext>
            </a:extLst>
          </p:cNvPr>
          <p:cNvSpPr txBox="1"/>
          <p:nvPr/>
        </p:nvSpPr>
        <p:spPr>
          <a:xfrm>
            <a:off x="2359742" y="116566"/>
            <a:ext cx="8511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Shri Siddhi Vinayak Group of Institutions (SSVGI), Bareilly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666E20-802B-443F-85AB-4E22B116A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3280" y="1"/>
            <a:ext cx="1175938" cy="5938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D14934-FA23-4B60-B2F5-EBC58C1C1D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33" r="96944">
                        <a14:foregroundMark x1="14444" y1="43889" x2="14444" y2="43889"/>
                        <a14:foregroundMark x1="32222" y1="40278" x2="32222" y2="40278"/>
                        <a14:foregroundMark x1="4722" y1="49167" x2="4722" y2="49167"/>
                        <a14:foregroundMark x1="1111" y1="52500" x2="1111" y2="52500"/>
                        <a14:foregroundMark x1="88611" y1="36944" x2="88611" y2="36944"/>
                        <a14:foregroundMark x1="96944" y1="50278" x2="96944" y2="50278"/>
                        <a14:foregroundMark x1="79722" y1="59722" x2="79722" y2="59722"/>
                        <a14:foregroundMark x1="73056" y1="62222" x2="73056" y2="62222"/>
                        <a14:foregroundMark x1="62500" y1="68611" x2="62500" y2="68611"/>
                        <a14:foregroundMark x1="57500" y1="73611" x2="57500" y2="736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1808473"/>
            <a:ext cx="1055427" cy="10554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9E28B1-B5AD-4E44-8817-97090E0ACAD3}"/>
              </a:ext>
            </a:extLst>
          </p:cNvPr>
          <p:cNvSpPr txBox="1"/>
          <p:nvPr/>
        </p:nvSpPr>
        <p:spPr>
          <a:xfrm>
            <a:off x="4335780" y="4521813"/>
            <a:ext cx="3815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Basic To Advance Level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40571491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4817208-43A0-4277-ACFA-AFE30CEF256B}"/>
              </a:ext>
            </a:extLst>
          </p:cNvPr>
          <p:cNvSpPr/>
          <p:nvPr/>
        </p:nvSpPr>
        <p:spPr>
          <a:xfrm>
            <a:off x="4137389" y="3342640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1 : Perform These Operations</a:t>
            </a:r>
            <a:endParaRPr lang="en-I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02F8E2-4D4E-4EA8-BD29-28B1D7D51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268372"/>
              </p:ext>
            </p:extLst>
          </p:nvPr>
        </p:nvGraphicFramePr>
        <p:xfrm>
          <a:off x="609600" y="1648542"/>
          <a:ext cx="10687667" cy="1694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4439">
                  <a:extLst>
                    <a:ext uri="{9D8B030D-6E8A-4147-A177-3AD203B41FA5}">
                      <a16:colId xmlns:a16="http://schemas.microsoft.com/office/drawing/2014/main" val="1932000432"/>
                    </a:ext>
                  </a:extLst>
                </a:gridCol>
                <a:gridCol w="983226">
                  <a:extLst>
                    <a:ext uri="{9D8B030D-6E8A-4147-A177-3AD203B41FA5}">
                      <a16:colId xmlns:a16="http://schemas.microsoft.com/office/drawing/2014/main" val="1565188398"/>
                    </a:ext>
                  </a:extLst>
                </a:gridCol>
                <a:gridCol w="1091380">
                  <a:extLst>
                    <a:ext uri="{9D8B030D-6E8A-4147-A177-3AD203B41FA5}">
                      <a16:colId xmlns:a16="http://schemas.microsoft.com/office/drawing/2014/main" val="2465955744"/>
                    </a:ext>
                  </a:extLst>
                </a:gridCol>
                <a:gridCol w="891172">
                  <a:extLst>
                    <a:ext uri="{9D8B030D-6E8A-4147-A177-3AD203B41FA5}">
                      <a16:colId xmlns:a16="http://schemas.microsoft.com/office/drawing/2014/main" val="3765331658"/>
                    </a:ext>
                  </a:extLst>
                </a:gridCol>
                <a:gridCol w="1127490">
                  <a:extLst>
                    <a:ext uri="{9D8B030D-6E8A-4147-A177-3AD203B41FA5}">
                      <a16:colId xmlns:a16="http://schemas.microsoft.com/office/drawing/2014/main" val="2263151412"/>
                    </a:ext>
                  </a:extLst>
                </a:gridCol>
                <a:gridCol w="1127490">
                  <a:extLst>
                    <a:ext uri="{9D8B030D-6E8A-4147-A177-3AD203B41FA5}">
                      <a16:colId xmlns:a16="http://schemas.microsoft.com/office/drawing/2014/main" val="351993065"/>
                    </a:ext>
                  </a:extLst>
                </a:gridCol>
                <a:gridCol w="1127490">
                  <a:extLst>
                    <a:ext uri="{9D8B030D-6E8A-4147-A177-3AD203B41FA5}">
                      <a16:colId xmlns:a16="http://schemas.microsoft.com/office/drawing/2014/main" val="3807918826"/>
                    </a:ext>
                  </a:extLst>
                </a:gridCol>
                <a:gridCol w="1127490">
                  <a:extLst>
                    <a:ext uri="{9D8B030D-6E8A-4147-A177-3AD203B41FA5}">
                      <a16:colId xmlns:a16="http://schemas.microsoft.com/office/drawing/2014/main" val="2918428372"/>
                    </a:ext>
                  </a:extLst>
                </a:gridCol>
                <a:gridCol w="1127490">
                  <a:extLst>
                    <a:ext uri="{9D8B030D-6E8A-4147-A177-3AD203B41FA5}">
                      <a16:colId xmlns:a16="http://schemas.microsoft.com/office/drawing/2014/main" val="1805612043"/>
                    </a:ext>
                  </a:extLst>
                </a:gridCol>
              </a:tblGrid>
              <a:tr h="423524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Student's Name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English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Hindi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 dirty="0">
                          <a:effectLst/>
                        </a:rPr>
                        <a:t>Math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Total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Min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Max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Average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u="none" strike="noStrike">
                          <a:effectLst/>
                        </a:rPr>
                        <a:t>Photo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933412555"/>
                  </a:ext>
                </a:extLst>
              </a:tr>
              <a:tr h="423524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Harsh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93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 dirty="0">
                          <a:effectLst/>
                        </a:rPr>
                        <a:t>53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56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83570467"/>
                  </a:ext>
                </a:extLst>
              </a:tr>
              <a:tr h="423524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John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86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34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80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58827223"/>
                  </a:ext>
                </a:extLst>
              </a:tr>
              <a:tr h="423524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Mahesh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38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39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1" u="none" strike="noStrike">
                          <a:effectLst/>
                        </a:rPr>
                        <a:t>51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88557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70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4817208-43A0-4277-ACFA-AFE30CEF256B}"/>
              </a:ext>
            </a:extLst>
          </p:cNvPr>
          <p:cNvSpPr/>
          <p:nvPr/>
        </p:nvSpPr>
        <p:spPr>
          <a:xfrm>
            <a:off x="509285" y="1798416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2 : Create A Chart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51D4B-3F79-4337-9094-08FA9F8A230B}"/>
              </a:ext>
            </a:extLst>
          </p:cNvPr>
          <p:cNvSpPr txBox="1"/>
          <p:nvPr/>
        </p:nvSpPr>
        <p:spPr>
          <a:xfrm>
            <a:off x="4299995" y="2753032"/>
            <a:ext cx="7715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Generate Random data using </a:t>
            </a:r>
            <a:r>
              <a:rPr lang="en-US" sz="2400" b="1" dirty="0" err="1"/>
              <a:t>RandomBetween</a:t>
            </a:r>
            <a:r>
              <a:rPr lang="en-US" sz="2400" b="1" dirty="0"/>
              <a:t> Formula and Apply Conditional Formatting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79808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DD19CF32-87B5-402D-8EA7-7E9BA1060AE0}"/>
              </a:ext>
            </a:extLst>
          </p:cNvPr>
          <p:cNvSpPr/>
          <p:nvPr/>
        </p:nvSpPr>
        <p:spPr>
          <a:xfrm>
            <a:off x="1064870" y="1705819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3 : Prepare Chart For Data</a:t>
            </a:r>
            <a:endParaRPr lang="en-I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E52740-205B-4110-9CA2-7D085AECB8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52908"/>
              </p:ext>
            </p:extLst>
          </p:nvPr>
        </p:nvGraphicFramePr>
        <p:xfrm>
          <a:off x="4874499" y="2331720"/>
          <a:ext cx="5560455" cy="2377440"/>
        </p:xfrm>
        <a:graphic>
          <a:graphicData uri="http://schemas.openxmlformats.org/drawingml/2006/table">
            <a:tbl>
              <a:tblPr/>
              <a:tblGrid>
                <a:gridCol w="2040506">
                  <a:extLst>
                    <a:ext uri="{9D8B030D-6E8A-4147-A177-3AD203B41FA5}">
                      <a16:colId xmlns:a16="http://schemas.microsoft.com/office/drawing/2014/main" val="2644838269"/>
                    </a:ext>
                  </a:extLst>
                </a:gridCol>
                <a:gridCol w="963561">
                  <a:extLst>
                    <a:ext uri="{9D8B030D-6E8A-4147-A177-3AD203B41FA5}">
                      <a16:colId xmlns:a16="http://schemas.microsoft.com/office/drawing/2014/main" val="2996437503"/>
                    </a:ext>
                  </a:extLst>
                </a:gridCol>
                <a:gridCol w="1235937">
                  <a:extLst>
                    <a:ext uri="{9D8B030D-6E8A-4147-A177-3AD203B41FA5}">
                      <a16:colId xmlns:a16="http://schemas.microsoft.com/office/drawing/2014/main" val="618490265"/>
                    </a:ext>
                  </a:extLst>
                </a:gridCol>
                <a:gridCol w="1320451">
                  <a:extLst>
                    <a:ext uri="{9D8B030D-6E8A-4147-A177-3AD203B41FA5}">
                      <a16:colId xmlns:a16="http://schemas.microsoft.com/office/drawing/2014/main" val="3777460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 dirty="0"/>
                        <a:t>Student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Maths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Science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English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372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 dirty="0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807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Neha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90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077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503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Ankit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273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638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DD19CF32-87B5-402D-8EA7-7E9BA1060AE0}"/>
              </a:ext>
            </a:extLst>
          </p:cNvPr>
          <p:cNvSpPr/>
          <p:nvPr/>
        </p:nvSpPr>
        <p:spPr>
          <a:xfrm>
            <a:off x="1064870" y="1705819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4 : Create Pie Chart</a:t>
            </a:r>
            <a:endParaRPr lang="en-IN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D8680E-4529-4473-B4DD-D55AA318D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552382"/>
              </p:ext>
            </p:extLst>
          </p:nvPr>
        </p:nvGraphicFramePr>
        <p:xfrm>
          <a:off x="4807059" y="2331720"/>
          <a:ext cx="5695336" cy="2377440"/>
        </p:xfrm>
        <a:graphic>
          <a:graphicData uri="http://schemas.openxmlformats.org/drawingml/2006/table">
            <a:tbl>
              <a:tblPr/>
              <a:tblGrid>
                <a:gridCol w="2847668">
                  <a:extLst>
                    <a:ext uri="{9D8B030D-6E8A-4147-A177-3AD203B41FA5}">
                      <a16:colId xmlns:a16="http://schemas.microsoft.com/office/drawing/2014/main" val="522161317"/>
                    </a:ext>
                  </a:extLst>
                </a:gridCol>
                <a:gridCol w="2847668">
                  <a:extLst>
                    <a:ext uri="{9D8B030D-6E8A-4147-A177-3AD203B41FA5}">
                      <a16:colId xmlns:a16="http://schemas.microsoft.com/office/drawing/2014/main" val="3474070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Amount (₹)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989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8000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55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 dirty="0"/>
                        <a:t>Food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4000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10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Transport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588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1438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000" b="1"/>
                        <a:t>Savings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3500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420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37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C1700A5-BCFC-49A5-8B81-CD15825B2F12}"/>
              </a:ext>
            </a:extLst>
          </p:cNvPr>
          <p:cNvSpPr/>
          <p:nvPr/>
        </p:nvSpPr>
        <p:spPr>
          <a:xfrm>
            <a:off x="613458" y="1566922"/>
            <a:ext cx="10998439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5 : </a:t>
            </a:r>
            <a:r>
              <a:rPr lang="en-US" sz="2400" b="1" dirty="0">
                <a:solidFill>
                  <a:schemeClr val="tx1"/>
                </a:solidFill>
              </a:rPr>
              <a:t>Convert This Data into Excel Table and Apply Remove Duplicates and Filters and Sorting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942411C-4BD0-4AAD-BD25-9E6333020749}"/>
              </a:ext>
            </a:extLst>
          </p:cNvPr>
          <p:cNvSpPr/>
          <p:nvPr/>
        </p:nvSpPr>
        <p:spPr>
          <a:xfrm>
            <a:off x="5565057" y="3902823"/>
            <a:ext cx="334297" cy="5997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79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8A6B5-5E61-4F75-A4DD-9F6CC84B9ECC}"/>
              </a:ext>
            </a:extLst>
          </p:cNvPr>
          <p:cNvSpPr txBox="1"/>
          <p:nvPr/>
        </p:nvSpPr>
        <p:spPr>
          <a:xfrm>
            <a:off x="3018503" y="1946788"/>
            <a:ext cx="62926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CityID,StateID,State,City,Population</a:t>
            </a:r>
            <a:endParaRPr lang="en-US" sz="2800" b="1" dirty="0"/>
          </a:p>
          <a:p>
            <a:r>
              <a:rPr lang="en-US" sz="2800" b="1" dirty="0"/>
              <a:t>1,3,Delhi,New Delhi,8571051</a:t>
            </a:r>
          </a:p>
          <a:p>
            <a:r>
              <a:rPr lang="en-US" sz="2800" b="1" dirty="0"/>
              <a:t>2,9,Maharashtra,Mumbai,3191630</a:t>
            </a:r>
          </a:p>
          <a:p>
            <a:r>
              <a:rPr lang="en-US" sz="2800" b="1" dirty="0"/>
              <a:t>2,9,Maharashtra,Mumbai,3191630</a:t>
            </a:r>
          </a:p>
          <a:p>
            <a:r>
              <a:rPr lang="en-US" sz="2800" b="1" dirty="0"/>
              <a:t>4,6,Karnataka,Bengaluru,4211045</a:t>
            </a:r>
          </a:p>
          <a:p>
            <a:r>
              <a:rPr lang="en-US" sz="2800" b="1" dirty="0"/>
              <a:t>5,6,Karnataka,Mysuru,2927616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8965909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432</TotalTime>
  <Words>173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25</cp:revision>
  <dcterms:created xsi:type="dcterms:W3CDTF">2026-03-20T10:03:49Z</dcterms:created>
  <dcterms:modified xsi:type="dcterms:W3CDTF">2026-03-30T02:51:27Z</dcterms:modified>
</cp:coreProperties>
</file>